
<file path=[Content_Types].xml><?xml version="1.0" encoding="utf-8"?>
<Types xmlns="http://schemas.openxmlformats.org/package/2006/content-types">
  <Default Extension="jfif" ContentType="image/jpeg"/>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78" r:id="rId5"/>
    <p:sldId id="261" r:id="rId6"/>
    <p:sldId id="262" r:id="rId7"/>
    <p:sldId id="266" r:id="rId8"/>
    <p:sldId id="265" r:id="rId9"/>
    <p:sldId id="267" r:id="rId10"/>
    <p:sldId id="268" r:id="rId11"/>
    <p:sldId id="269" r:id="rId12"/>
    <p:sldId id="270" r:id="rId13"/>
    <p:sldId id="271" r:id="rId14"/>
    <p:sldId id="272" r:id="rId15"/>
    <p:sldId id="275" r:id="rId16"/>
    <p:sldId id="274" r:id="rId17"/>
    <p:sldId id="277" r:id="rId18"/>
    <p:sldId id="279" r:id="rId19"/>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3" d="100"/>
          <a:sy n="73" d="100"/>
        </p:scale>
        <p:origin x="61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smtClean="0"/>
              <a:t>Haga clic para modificar el estilo de título del patrón</a:t>
            </a:r>
            <a:endParaRPr lang="es-ES"/>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smtClean="0"/>
              <a:t>Haga clic para modificar el estilo de subtítulo del patrón</a:t>
            </a:r>
            <a:endParaRPr lang="es-ES"/>
          </a:p>
        </p:txBody>
      </p:sp>
      <p:sp>
        <p:nvSpPr>
          <p:cNvPr id="4" name="Marcador de fecha 3"/>
          <p:cNvSpPr>
            <a:spLocks noGrp="1"/>
          </p:cNvSpPr>
          <p:nvPr>
            <p:ph type="dt" sz="half" idx="10"/>
          </p:nvPr>
        </p:nvSpPr>
        <p:spPr/>
        <p:txBody>
          <a:bodyPr/>
          <a:lstStyle/>
          <a:p>
            <a:fld id="{936EFDA6-2E91-45A7-A693-6FFC363A33B3}" type="datetimeFigureOut">
              <a:rPr lang="es-ES" smtClean="0"/>
              <a:t>10/05/2023</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AA10FC14-C841-45D5-A3D5-D33E312706BF}" type="slidenum">
              <a:rPr lang="es-ES" smtClean="0"/>
              <a:t>‹Nº›</a:t>
            </a:fld>
            <a:endParaRPr lang="es-ES"/>
          </a:p>
        </p:txBody>
      </p:sp>
    </p:spTree>
    <p:extLst>
      <p:ext uri="{BB962C8B-B14F-4D97-AF65-F5344CB8AC3E}">
        <p14:creationId xmlns:p14="http://schemas.microsoft.com/office/powerpoint/2010/main" val="6065331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ES"/>
          </a:p>
        </p:txBody>
      </p:sp>
      <p:sp>
        <p:nvSpPr>
          <p:cNvPr id="3" name="Marcador de contenido 2"/>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Marcador de fecha 3"/>
          <p:cNvSpPr>
            <a:spLocks noGrp="1"/>
          </p:cNvSpPr>
          <p:nvPr>
            <p:ph type="dt" sz="half" idx="10"/>
          </p:nvPr>
        </p:nvSpPr>
        <p:spPr/>
        <p:txBody>
          <a:bodyPr/>
          <a:lstStyle/>
          <a:p>
            <a:fld id="{936EFDA6-2E91-45A7-A693-6FFC363A33B3}" type="datetimeFigureOut">
              <a:rPr lang="es-ES" smtClean="0"/>
              <a:t>10/05/2023</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AA10FC14-C841-45D5-A3D5-D33E312706BF}" type="slidenum">
              <a:rPr lang="es-ES" smtClean="0"/>
              <a:t>‹Nº›</a:t>
            </a:fld>
            <a:endParaRPr lang="es-ES"/>
          </a:p>
        </p:txBody>
      </p:sp>
    </p:spTree>
    <p:extLst>
      <p:ext uri="{BB962C8B-B14F-4D97-AF65-F5344CB8AC3E}">
        <p14:creationId xmlns:p14="http://schemas.microsoft.com/office/powerpoint/2010/main" val="11215678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smtClean="0"/>
              <a:t>Haga clic para modificar el estilo de título del patrón</a:t>
            </a:r>
            <a:endParaRPr lang="es-ES"/>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smtClean="0"/>
              <a:t>Haga clic para modificar el estilo de texto del patrón</a:t>
            </a:r>
          </a:p>
        </p:txBody>
      </p:sp>
      <p:sp>
        <p:nvSpPr>
          <p:cNvPr id="4" name="Marcador de fecha 3"/>
          <p:cNvSpPr>
            <a:spLocks noGrp="1"/>
          </p:cNvSpPr>
          <p:nvPr>
            <p:ph type="dt" sz="half" idx="10"/>
          </p:nvPr>
        </p:nvSpPr>
        <p:spPr/>
        <p:txBody>
          <a:bodyPr/>
          <a:lstStyle/>
          <a:p>
            <a:fld id="{936EFDA6-2E91-45A7-A693-6FFC363A33B3}" type="datetimeFigureOut">
              <a:rPr lang="es-ES" smtClean="0"/>
              <a:t>10/05/2023</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AA10FC14-C841-45D5-A3D5-D33E312706BF}" type="slidenum">
              <a:rPr lang="es-ES" smtClean="0"/>
              <a:t>‹Nº›</a:t>
            </a:fld>
            <a:endParaRPr lang="es-ES"/>
          </a:p>
        </p:txBody>
      </p:sp>
    </p:spTree>
    <p:extLst>
      <p:ext uri="{BB962C8B-B14F-4D97-AF65-F5344CB8AC3E}">
        <p14:creationId xmlns:p14="http://schemas.microsoft.com/office/powerpoint/2010/main" val="24870076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ES"/>
          </a:p>
        </p:txBody>
      </p:sp>
      <p:sp>
        <p:nvSpPr>
          <p:cNvPr id="3" name="Marcador de contenido 2"/>
          <p:cNvSpPr>
            <a:spLocks noGrp="1"/>
          </p:cNvSpPr>
          <p:nvPr>
            <p:ph sz="half" idx="1"/>
          </p:nvPr>
        </p:nvSpPr>
        <p:spPr>
          <a:xfrm>
            <a:off x="838200" y="1825625"/>
            <a:ext cx="5181600" cy="4351338"/>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Marcador de contenido 3"/>
          <p:cNvSpPr>
            <a:spLocks noGrp="1"/>
          </p:cNvSpPr>
          <p:nvPr>
            <p:ph sz="half" idx="2"/>
          </p:nvPr>
        </p:nvSpPr>
        <p:spPr>
          <a:xfrm>
            <a:off x="6172200" y="1825625"/>
            <a:ext cx="5181600" cy="4351338"/>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5" name="Marcador de fecha 4"/>
          <p:cNvSpPr>
            <a:spLocks noGrp="1"/>
          </p:cNvSpPr>
          <p:nvPr>
            <p:ph type="dt" sz="half" idx="10"/>
          </p:nvPr>
        </p:nvSpPr>
        <p:spPr/>
        <p:txBody>
          <a:bodyPr/>
          <a:lstStyle/>
          <a:p>
            <a:fld id="{936EFDA6-2E91-45A7-A693-6FFC363A33B3}" type="datetimeFigureOut">
              <a:rPr lang="es-ES" smtClean="0"/>
              <a:t>10/05/2023</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AA10FC14-C841-45D5-A3D5-D33E312706BF}" type="slidenum">
              <a:rPr lang="es-ES" smtClean="0"/>
              <a:t>‹Nº›</a:t>
            </a:fld>
            <a:endParaRPr lang="es-ES"/>
          </a:p>
        </p:txBody>
      </p:sp>
    </p:spTree>
    <p:extLst>
      <p:ext uri="{BB962C8B-B14F-4D97-AF65-F5344CB8AC3E}">
        <p14:creationId xmlns:p14="http://schemas.microsoft.com/office/powerpoint/2010/main" val="24607169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smtClean="0"/>
              <a:t>Haga clic para modificar el estilo de título del patrón</a:t>
            </a:r>
            <a:endParaRPr lang="es-ES"/>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7" name="Marcador de fecha 6"/>
          <p:cNvSpPr>
            <a:spLocks noGrp="1"/>
          </p:cNvSpPr>
          <p:nvPr>
            <p:ph type="dt" sz="half" idx="10"/>
          </p:nvPr>
        </p:nvSpPr>
        <p:spPr/>
        <p:txBody>
          <a:bodyPr/>
          <a:lstStyle/>
          <a:p>
            <a:fld id="{936EFDA6-2E91-45A7-A693-6FFC363A33B3}" type="datetimeFigureOut">
              <a:rPr lang="es-ES" smtClean="0"/>
              <a:t>10/05/2023</a:t>
            </a:fld>
            <a:endParaRPr lang="es-ES"/>
          </a:p>
        </p:txBody>
      </p:sp>
      <p:sp>
        <p:nvSpPr>
          <p:cNvPr id="8" name="Marcador de pie de página 7"/>
          <p:cNvSpPr>
            <a:spLocks noGrp="1"/>
          </p:cNvSpPr>
          <p:nvPr>
            <p:ph type="ftr" sz="quarter" idx="11"/>
          </p:nvPr>
        </p:nvSpPr>
        <p:spPr/>
        <p:txBody>
          <a:bodyPr/>
          <a:lstStyle/>
          <a:p>
            <a:endParaRPr lang="es-ES"/>
          </a:p>
        </p:txBody>
      </p:sp>
      <p:sp>
        <p:nvSpPr>
          <p:cNvPr id="9" name="Marcador de número de diapositiva 8"/>
          <p:cNvSpPr>
            <a:spLocks noGrp="1"/>
          </p:cNvSpPr>
          <p:nvPr>
            <p:ph type="sldNum" sz="quarter" idx="12"/>
          </p:nvPr>
        </p:nvSpPr>
        <p:spPr/>
        <p:txBody>
          <a:bodyPr/>
          <a:lstStyle/>
          <a:p>
            <a:fld id="{AA10FC14-C841-45D5-A3D5-D33E312706BF}" type="slidenum">
              <a:rPr lang="es-ES" smtClean="0"/>
              <a:t>‹Nº›</a:t>
            </a:fld>
            <a:endParaRPr lang="es-ES"/>
          </a:p>
        </p:txBody>
      </p:sp>
    </p:spTree>
    <p:extLst>
      <p:ext uri="{BB962C8B-B14F-4D97-AF65-F5344CB8AC3E}">
        <p14:creationId xmlns:p14="http://schemas.microsoft.com/office/powerpoint/2010/main" val="6171905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ES"/>
          </a:p>
        </p:txBody>
      </p:sp>
      <p:sp>
        <p:nvSpPr>
          <p:cNvPr id="3" name="Marcador de fecha 2"/>
          <p:cNvSpPr>
            <a:spLocks noGrp="1"/>
          </p:cNvSpPr>
          <p:nvPr>
            <p:ph type="dt" sz="half" idx="10"/>
          </p:nvPr>
        </p:nvSpPr>
        <p:spPr/>
        <p:txBody>
          <a:bodyPr/>
          <a:lstStyle/>
          <a:p>
            <a:fld id="{936EFDA6-2E91-45A7-A693-6FFC363A33B3}" type="datetimeFigureOut">
              <a:rPr lang="es-ES" smtClean="0"/>
              <a:t>10/05/2023</a:t>
            </a:fld>
            <a:endParaRPr lang="es-ES"/>
          </a:p>
        </p:txBody>
      </p:sp>
      <p:sp>
        <p:nvSpPr>
          <p:cNvPr id="4" name="Marcador de pie de página 3"/>
          <p:cNvSpPr>
            <a:spLocks noGrp="1"/>
          </p:cNvSpPr>
          <p:nvPr>
            <p:ph type="ftr" sz="quarter" idx="11"/>
          </p:nvPr>
        </p:nvSpPr>
        <p:spPr/>
        <p:txBody>
          <a:bodyPr/>
          <a:lstStyle/>
          <a:p>
            <a:endParaRPr lang="es-ES"/>
          </a:p>
        </p:txBody>
      </p:sp>
      <p:sp>
        <p:nvSpPr>
          <p:cNvPr id="5" name="Marcador de número de diapositiva 4"/>
          <p:cNvSpPr>
            <a:spLocks noGrp="1"/>
          </p:cNvSpPr>
          <p:nvPr>
            <p:ph type="sldNum" sz="quarter" idx="12"/>
          </p:nvPr>
        </p:nvSpPr>
        <p:spPr/>
        <p:txBody>
          <a:bodyPr/>
          <a:lstStyle/>
          <a:p>
            <a:fld id="{AA10FC14-C841-45D5-A3D5-D33E312706BF}" type="slidenum">
              <a:rPr lang="es-ES" smtClean="0"/>
              <a:t>‹Nº›</a:t>
            </a:fld>
            <a:endParaRPr lang="es-ES"/>
          </a:p>
        </p:txBody>
      </p:sp>
    </p:spTree>
    <p:extLst>
      <p:ext uri="{BB962C8B-B14F-4D97-AF65-F5344CB8AC3E}">
        <p14:creationId xmlns:p14="http://schemas.microsoft.com/office/powerpoint/2010/main" val="26452114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936EFDA6-2E91-45A7-A693-6FFC363A33B3}" type="datetimeFigureOut">
              <a:rPr lang="es-ES" smtClean="0"/>
              <a:t>10/05/2023</a:t>
            </a:fld>
            <a:endParaRPr lang="es-ES"/>
          </a:p>
        </p:txBody>
      </p:sp>
      <p:sp>
        <p:nvSpPr>
          <p:cNvPr id="3" name="Marcador de pie de página 2"/>
          <p:cNvSpPr>
            <a:spLocks noGrp="1"/>
          </p:cNvSpPr>
          <p:nvPr>
            <p:ph type="ftr" sz="quarter" idx="11"/>
          </p:nvPr>
        </p:nvSpPr>
        <p:spPr/>
        <p:txBody>
          <a:bodyPr/>
          <a:lstStyle/>
          <a:p>
            <a:endParaRPr lang="es-ES"/>
          </a:p>
        </p:txBody>
      </p:sp>
      <p:sp>
        <p:nvSpPr>
          <p:cNvPr id="4" name="Marcador de número de diapositiva 3"/>
          <p:cNvSpPr>
            <a:spLocks noGrp="1"/>
          </p:cNvSpPr>
          <p:nvPr>
            <p:ph type="sldNum" sz="quarter" idx="12"/>
          </p:nvPr>
        </p:nvSpPr>
        <p:spPr/>
        <p:txBody>
          <a:bodyPr/>
          <a:lstStyle/>
          <a:p>
            <a:fld id="{AA10FC14-C841-45D5-A3D5-D33E312706BF}" type="slidenum">
              <a:rPr lang="es-ES" smtClean="0"/>
              <a:t>‹Nº›</a:t>
            </a:fld>
            <a:endParaRPr lang="es-ES"/>
          </a:p>
        </p:txBody>
      </p:sp>
    </p:spTree>
    <p:extLst>
      <p:ext uri="{BB962C8B-B14F-4D97-AF65-F5344CB8AC3E}">
        <p14:creationId xmlns:p14="http://schemas.microsoft.com/office/powerpoint/2010/main" val="16073332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smtClean="0"/>
              <a:t>Haga clic para modificar el estilo de título del patrón</a:t>
            </a:r>
            <a:endParaRPr lang="es-ES"/>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Haga clic para modificar el estilo de texto del patrón</a:t>
            </a:r>
          </a:p>
        </p:txBody>
      </p:sp>
      <p:sp>
        <p:nvSpPr>
          <p:cNvPr id="5" name="Marcador de fecha 4"/>
          <p:cNvSpPr>
            <a:spLocks noGrp="1"/>
          </p:cNvSpPr>
          <p:nvPr>
            <p:ph type="dt" sz="half" idx="10"/>
          </p:nvPr>
        </p:nvSpPr>
        <p:spPr/>
        <p:txBody>
          <a:bodyPr/>
          <a:lstStyle/>
          <a:p>
            <a:fld id="{936EFDA6-2E91-45A7-A693-6FFC363A33B3}" type="datetimeFigureOut">
              <a:rPr lang="es-ES" smtClean="0"/>
              <a:t>10/05/2023</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AA10FC14-C841-45D5-A3D5-D33E312706BF}" type="slidenum">
              <a:rPr lang="es-ES" smtClean="0"/>
              <a:t>‹Nº›</a:t>
            </a:fld>
            <a:endParaRPr lang="es-ES"/>
          </a:p>
        </p:txBody>
      </p:sp>
    </p:spTree>
    <p:extLst>
      <p:ext uri="{BB962C8B-B14F-4D97-AF65-F5344CB8AC3E}">
        <p14:creationId xmlns:p14="http://schemas.microsoft.com/office/powerpoint/2010/main" val="37284584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smtClean="0"/>
              <a:t>Haga clic para modificar el estilo de título del patrón</a:t>
            </a:r>
            <a:endParaRPr lang="es-ES"/>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Haga clic para modificar el estilo de texto del patrón</a:t>
            </a:r>
          </a:p>
        </p:txBody>
      </p:sp>
      <p:sp>
        <p:nvSpPr>
          <p:cNvPr id="5" name="Marcador de fecha 4"/>
          <p:cNvSpPr>
            <a:spLocks noGrp="1"/>
          </p:cNvSpPr>
          <p:nvPr>
            <p:ph type="dt" sz="half" idx="10"/>
          </p:nvPr>
        </p:nvSpPr>
        <p:spPr/>
        <p:txBody>
          <a:bodyPr/>
          <a:lstStyle/>
          <a:p>
            <a:fld id="{936EFDA6-2E91-45A7-A693-6FFC363A33B3}" type="datetimeFigureOut">
              <a:rPr lang="es-ES" smtClean="0"/>
              <a:t>10/05/2023</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AA10FC14-C841-45D5-A3D5-D33E312706BF}" type="slidenum">
              <a:rPr lang="es-ES" smtClean="0"/>
              <a:t>‹Nº›</a:t>
            </a:fld>
            <a:endParaRPr lang="es-ES"/>
          </a:p>
        </p:txBody>
      </p:sp>
    </p:spTree>
    <p:extLst>
      <p:ext uri="{BB962C8B-B14F-4D97-AF65-F5344CB8AC3E}">
        <p14:creationId xmlns:p14="http://schemas.microsoft.com/office/powerpoint/2010/main" val="25550723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ES"/>
          </a:p>
        </p:txBody>
      </p:sp>
      <p:sp>
        <p:nvSpPr>
          <p:cNvPr id="3" name="Marcador de texto vertical 2"/>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Marcador de fecha 3"/>
          <p:cNvSpPr>
            <a:spLocks noGrp="1"/>
          </p:cNvSpPr>
          <p:nvPr>
            <p:ph type="dt" sz="half" idx="10"/>
          </p:nvPr>
        </p:nvSpPr>
        <p:spPr/>
        <p:txBody>
          <a:bodyPr/>
          <a:lstStyle/>
          <a:p>
            <a:fld id="{936EFDA6-2E91-45A7-A693-6FFC363A33B3}" type="datetimeFigureOut">
              <a:rPr lang="es-ES" smtClean="0"/>
              <a:t>10/05/2023</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AA10FC14-C841-45D5-A3D5-D33E312706BF}" type="slidenum">
              <a:rPr lang="es-ES" smtClean="0"/>
              <a:t>‹Nº›</a:t>
            </a:fld>
            <a:endParaRPr lang="es-ES"/>
          </a:p>
        </p:txBody>
      </p:sp>
    </p:spTree>
    <p:extLst>
      <p:ext uri="{BB962C8B-B14F-4D97-AF65-F5344CB8AC3E}">
        <p14:creationId xmlns:p14="http://schemas.microsoft.com/office/powerpoint/2010/main" val="3964532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smtClean="0"/>
              <a:t>Haga clic para modificar el estilo de título del patrón</a:t>
            </a:r>
            <a:endParaRPr lang="es-ES"/>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Marcador de fecha 3"/>
          <p:cNvSpPr>
            <a:spLocks noGrp="1"/>
          </p:cNvSpPr>
          <p:nvPr>
            <p:ph type="dt" sz="half" idx="10"/>
          </p:nvPr>
        </p:nvSpPr>
        <p:spPr/>
        <p:txBody>
          <a:bodyPr/>
          <a:lstStyle/>
          <a:p>
            <a:fld id="{936EFDA6-2E91-45A7-A693-6FFC363A33B3}" type="datetimeFigureOut">
              <a:rPr lang="es-ES" smtClean="0"/>
              <a:t>10/05/2023</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AA10FC14-C841-45D5-A3D5-D33E312706BF}" type="slidenum">
              <a:rPr lang="es-ES" smtClean="0"/>
              <a:t>‹Nº›</a:t>
            </a:fld>
            <a:endParaRPr lang="es-ES"/>
          </a:p>
        </p:txBody>
      </p:sp>
    </p:spTree>
    <p:extLst>
      <p:ext uri="{BB962C8B-B14F-4D97-AF65-F5344CB8AC3E}">
        <p14:creationId xmlns:p14="http://schemas.microsoft.com/office/powerpoint/2010/main" val="15986496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lumMod val="40000"/>
            <a:lumOff val="60000"/>
          </a:schemeClr>
        </a:solidFill>
        <a:effectLst/>
      </p:bgPr>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smtClean="0"/>
              <a:t>Haga clic para modificar el estilo de título del patrón</a:t>
            </a:r>
            <a:endParaRPr lang="es-ES"/>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36EFDA6-2E91-45A7-A693-6FFC363A33B3}" type="datetimeFigureOut">
              <a:rPr lang="es-ES" smtClean="0"/>
              <a:t>10/05/2023</a:t>
            </a:fld>
            <a:endParaRPr lang="es-ES"/>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A10FC14-C841-45D5-A3D5-D33E312706BF}" type="slidenum">
              <a:rPr lang="es-ES" smtClean="0"/>
              <a:t>‹Nº›</a:t>
            </a:fld>
            <a:endParaRPr lang="es-ES"/>
          </a:p>
        </p:txBody>
      </p:sp>
    </p:spTree>
    <p:extLst>
      <p:ext uri="{BB962C8B-B14F-4D97-AF65-F5344CB8AC3E}">
        <p14:creationId xmlns:p14="http://schemas.microsoft.com/office/powerpoint/2010/main" val="40732953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hyperlink" Target="https://data.buenosaires.gob.ar/dataset/movimiento-hospitalario"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fif"/><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1423851" y="5734594"/>
            <a:ext cx="9139646" cy="1123406"/>
          </a:xfrm>
        </p:spPr>
        <p:txBody>
          <a:bodyPr>
            <a:normAutofit/>
          </a:bodyPr>
          <a:lstStyle/>
          <a:p>
            <a:r>
              <a:rPr lang="es-419" sz="1600" b="1" dirty="0">
                <a:effectLst>
                  <a:outerShdw blurRad="38100" dist="38100" dir="2700000" algn="tl">
                    <a:srgbClr val="000000">
                      <a:alpha val="43137"/>
                    </a:srgbClr>
                  </a:outerShdw>
                </a:effectLst>
              </a:rPr>
              <a:t>Información sobre Internaciones en la Ciudad de Buenos Aires</a:t>
            </a:r>
            <a:r>
              <a:rPr lang="es-419" sz="1600" b="1" dirty="0" smtClean="0">
                <a:effectLst>
                  <a:outerShdw blurRad="38100" dist="38100" dir="2700000" algn="tl">
                    <a:srgbClr val="000000">
                      <a:alpha val="43137"/>
                    </a:srgbClr>
                  </a:outerShdw>
                </a:effectLst>
              </a:rPr>
              <a:t>.</a:t>
            </a:r>
            <a:r>
              <a:rPr lang="es-419" sz="1600" b="1" dirty="0">
                <a:effectLst>
                  <a:outerShdw blurRad="38100" dist="38100" dir="2700000" algn="tl">
                    <a:srgbClr val="000000">
                      <a:alpha val="43137"/>
                    </a:srgbClr>
                  </a:outerShdw>
                </a:effectLst>
              </a:rPr>
              <a:t/>
            </a:r>
            <a:br>
              <a:rPr lang="es-419" sz="1600" b="1" dirty="0">
                <a:effectLst>
                  <a:outerShdw blurRad="38100" dist="38100" dir="2700000" algn="tl">
                    <a:srgbClr val="000000">
                      <a:alpha val="43137"/>
                    </a:srgbClr>
                  </a:outerShdw>
                </a:effectLst>
              </a:rPr>
            </a:br>
            <a:r>
              <a:rPr lang="es-419" sz="1600" dirty="0" smtClean="0">
                <a:effectLst>
                  <a:outerShdw blurRad="38100" dist="38100" dir="2700000" algn="tl">
                    <a:srgbClr val="000000">
                      <a:alpha val="43137"/>
                    </a:srgbClr>
                  </a:outerShdw>
                </a:effectLst>
              </a:rPr>
              <a:t>Información </a:t>
            </a:r>
            <a:r>
              <a:rPr lang="es-419" sz="1600" dirty="0">
                <a:effectLst>
                  <a:outerShdw blurRad="38100" dist="38100" dir="2700000" algn="tl">
                    <a:srgbClr val="000000">
                      <a:alpha val="43137"/>
                    </a:srgbClr>
                  </a:outerShdw>
                </a:effectLst>
              </a:rPr>
              <a:t>publicada en </a:t>
            </a:r>
            <a:r>
              <a:rPr lang="es-419" sz="1600" u="sng" dirty="0">
                <a:effectLst>
                  <a:outerShdw blurRad="38100" dist="38100" dir="2700000" algn="tl">
                    <a:srgbClr val="000000">
                      <a:alpha val="43137"/>
                    </a:srgbClr>
                  </a:outerShdw>
                </a:effectLst>
                <a:hlinkClick r:id="rId2"/>
              </a:rPr>
              <a:t>https://</a:t>
            </a:r>
            <a:r>
              <a:rPr lang="es-419" sz="1600" u="sng" dirty="0" smtClean="0">
                <a:effectLst>
                  <a:outerShdw blurRad="38100" dist="38100" dir="2700000" algn="tl">
                    <a:srgbClr val="000000">
                      <a:alpha val="43137"/>
                    </a:srgbClr>
                  </a:outerShdw>
                </a:effectLst>
                <a:hlinkClick r:id="rId2"/>
              </a:rPr>
              <a:t>data.buenosaires.gob.ar/dataset/movimiento-hospitalario</a:t>
            </a:r>
            <a:r>
              <a:rPr lang="es-419" sz="1600" dirty="0">
                <a:effectLst>
                  <a:outerShdw blurRad="38100" dist="38100" dir="2700000" algn="tl">
                    <a:srgbClr val="000000">
                      <a:alpha val="43137"/>
                    </a:srgbClr>
                  </a:outerShdw>
                </a:effectLst>
              </a:rPr>
              <a:t/>
            </a:r>
            <a:br>
              <a:rPr lang="es-419" sz="1600" dirty="0">
                <a:effectLst>
                  <a:outerShdw blurRad="38100" dist="38100" dir="2700000" algn="tl">
                    <a:srgbClr val="000000">
                      <a:alpha val="43137"/>
                    </a:srgbClr>
                  </a:outerShdw>
                </a:effectLst>
              </a:rPr>
            </a:br>
            <a:r>
              <a:rPr lang="es-419" sz="1600" dirty="0">
                <a:effectLst>
                  <a:outerShdw blurRad="38100" dist="38100" dir="2700000" algn="tl">
                    <a:srgbClr val="000000">
                      <a:alpha val="43137"/>
                    </a:srgbClr>
                  </a:outerShdw>
                </a:effectLst>
              </a:rPr>
              <a:t>Esta información nos permite saber los servicios, especialidades y hospitales de la ciudad, y los ingresos, altas y defunciones, desde el año </a:t>
            </a:r>
            <a:r>
              <a:rPr lang="es-419" sz="1600" b="1" i="1" dirty="0">
                <a:effectLst>
                  <a:outerShdw blurRad="38100" dist="38100" dir="2700000" algn="tl">
                    <a:srgbClr val="000000">
                      <a:alpha val="43137"/>
                    </a:srgbClr>
                  </a:outerShdw>
                </a:effectLst>
              </a:rPr>
              <a:t>2011 al año 2017</a:t>
            </a:r>
            <a:r>
              <a:rPr lang="es-419" sz="1600" b="1" i="1" dirty="0" smtClean="0">
                <a:effectLst>
                  <a:outerShdw blurRad="38100" dist="38100" dir="2700000" algn="tl">
                    <a:srgbClr val="000000">
                      <a:alpha val="43137"/>
                    </a:srgbClr>
                  </a:outerShdw>
                </a:effectLst>
              </a:rPr>
              <a:t>.</a:t>
            </a:r>
            <a:endParaRPr lang="es-ES" dirty="0"/>
          </a:p>
        </p:txBody>
      </p:sp>
      <p:pic>
        <p:nvPicPr>
          <p:cNvPr id="4" name="Imagen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02470" y="2874798"/>
            <a:ext cx="5382408" cy="1757521"/>
          </a:xfrm>
          <a:prstGeom prst="rect">
            <a:avLst/>
          </a:prstGeom>
        </p:spPr>
      </p:pic>
      <p:sp>
        <p:nvSpPr>
          <p:cNvPr id="3" name="Rectángulo 2"/>
          <p:cNvSpPr/>
          <p:nvPr/>
        </p:nvSpPr>
        <p:spPr>
          <a:xfrm>
            <a:off x="1985810" y="598691"/>
            <a:ext cx="9139646" cy="2062103"/>
          </a:xfrm>
          <a:prstGeom prst="rect">
            <a:avLst/>
          </a:prstGeom>
        </p:spPr>
        <p:txBody>
          <a:bodyPr wrap="square">
            <a:spAutoFit/>
          </a:bodyPr>
          <a:lstStyle/>
          <a:p>
            <a:pPr algn="ctr"/>
            <a:r>
              <a:rPr lang="es-419" sz="3200" b="1" dirty="0">
                <a:solidFill>
                  <a:srgbClr val="000000"/>
                </a:solidFill>
                <a:latin typeface="Helvetica Neue"/>
              </a:rPr>
              <a:t>Análisis de la tasa de mortalidad de los Hospitales de la Ciudad de Buenos Aires. </a:t>
            </a:r>
          </a:p>
          <a:p>
            <a:pPr algn="ctr"/>
            <a:r>
              <a:rPr lang="es-419" sz="3200" b="1" dirty="0" smtClean="0">
                <a:solidFill>
                  <a:srgbClr val="000000"/>
                </a:solidFill>
                <a:latin typeface="Helvetica Neue"/>
              </a:rPr>
              <a:t> </a:t>
            </a:r>
          </a:p>
          <a:p>
            <a:pPr algn="ctr"/>
            <a:r>
              <a:rPr lang="es-419" sz="3200" b="1" dirty="0" smtClean="0">
                <a:solidFill>
                  <a:srgbClr val="000000"/>
                </a:solidFill>
                <a:latin typeface="Helvetica Neue"/>
              </a:rPr>
              <a:t>Nancy Manzano - Comisión </a:t>
            </a:r>
            <a:r>
              <a:rPr lang="es-419" sz="3200" b="1" dirty="0">
                <a:solidFill>
                  <a:srgbClr val="000000"/>
                </a:solidFill>
                <a:latin typeface="Helvetica Neue"/>
              </a:rPr>
              <a:t>32830.</a:t>
            </a:r>
            <a:endParaRPr lang="es-419" sz="3200" b="1" i="0" dirty="0">
              <a:solidFill>
                <a:srgbClr val="000000"/>
              </a:solidFill>
              <a:effectLst/>
              <a:latin typeface="Helvetica Neue"/>
            </a:endParaRPr>
          </a:p>
        </p:txBody>
      </p:sp>
    </p:spTree>
    <p:extLst>
      <p:ext uri="{BB962C8B-B14F-4D97-AF65-F5344CB8AC3E}">
        <p14:creationId xmlns:p14="http://schemas.microsoft.com/office/powerpoint/2010/main" val="103699142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923290" y="666207"/>
            <a:ext cx="10515600" cy="1410788"/>
          </a:xfrm>
        </p:spPr>
        <p:txBody>
          <a:bodyPr>
            <a:normAutofit/>
          </a:bodyPr>
          <a:lstStyle/>
          <a:p>
            <a:pPr algn="ctr"/>
            <a:r>
              <a:rPr lang="es-ES" sz="4400" b="1" dirty="0" smtClean="0">
                <a:effectLst>
                  <a:outerShdw blurRad="38100" dist="38100" dir="2700000" algn="tl">
                    <a:srgbClr val="000000">
                      <a:alpha val="43137"/>
                    </a:srgbClr>
                  </a:outerShdw>
                </a:effectLst>
              </a:rPr>
              <a:t>Selección del Dataset</a:t>
            </a:r>
            <a:endParaRPr lang="es-ES" sz="4400" b="1" dirty="0">
              <a:effectLst>
                <a:outerShdw blurRad="38100" dist="38100" dir="2700000" algn="tl">
                  <a:srgbClr val="000000">
                    <a:alpha val="43137"/>
                  </a:srgbClr>
                </a:outerShdw>
              </a:effectLst>
            </a:endParaRPr>
          </a:p>
        </p:txBody>
      </p:sp>
      <p:sp>
        <p:nvSpPr>
          <p:cNvPr id="3" name="Marcador de texto 2"/>
          <p:cNvSpPr>
            <a:spLocks noGrp="1"/>
          </p:cNvSpPr>
          <p:nvPr>
            <p:ph type="body" idx="1"/>
          </p:nvPr>
        </p:nvSpPr>
        <p:spPr>
          <a:xfrm>
            <a:off x="831850" y="2351315"/>
            <a:ext cx="10515600" cy="3738336"/>
          </a:xfrm>
        </p:spPr>
        <p:txBody>
          <a:bodyPr>
            <a:normAutofit/>
          </a:bodyPr>
          <a:lstStyle/>
          <a:p>
            <a:r>
              <a:rPr lang="es-419" dirty="0" smtClean="0"/>
              <a:t>Al seleccionar el dataset con el cual trabajaría durante las clases, me incliné por uno relacionado a Salud, pero que se relacione al sector público y pueda impactar en presupuesto o políticas públicas. Siempre he tenido interés por la Salud Pública y los sectores relacionados. Dado que posee información sobre servicios, especialidades y hospitales de la ciudad, y los ingresos, altas y defunciones, así como camas disponibles, consideré que explora cuestiones de mi interés que me permitirá trabajar sobre la tasa de mortalidad, y ver qué impacta sobre la misma y conocer los servicios de los nosocomios públicos, que permitirán tomar acciones para bajar la tasa de mortalidad.</a:t>
            </a:r>
            <a:endParaRPr lang="es-ES" dirty="0"/>
          </a:p>
        </p:txBody>
      </p:sp>
      <p:pic>
        <p:nvPicPr>
          <p:cNvPr id="4" name="Imagen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1505" y="130629"/>
            <a:ext cx="3105150" cy="1466850"/>
          </a:xfrm>
          <a:prstGeom prst="rect">
            <a:avLst/>
          </a:prstGeom>
        </p:spPr>
      </p:pic>
    </p:spTree>
    <p:extLst>
      <p:ext uri="{BB962C8B-B14F-4D97-AF65-F5344CB8AC3E}">
        <p14:creationId xmlns:p14="http://schemas.microsoft.com/office/powerpoint/2010/main" val="332119597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1850" y="418011"/>
            <a:ext cx="10515600" cy="640080"/>
          </a:xfrm>
        </p:spPr>
        <p:txBody>
          <a:bodyPr>
            <a:normAutofit/>
          </a:bodyPr>
          <a:lstStyle/>
          <a:p>
            <a:pPr algn="ctr"/>
            <a:r>
              <a:rPr lang="es-ES" sz="4000" b="1" dirty="0" smtClean="0">
                <a:effectLst>
                  <a:outerShdw blurRad="38100" dist="38100" dir="2700000" algn="tl">
                    <a:srgbClr val="000000">
                      <a:alpha val="43137"/>
                    </a:srgbClr>
                  </a:outerShdw>
                </a:effectLst>
              </a:rPr>
              <a:t>Comenzamos a conocer los datos</a:t>
            </a:r>
            <a:endParaRPr lang="es-ES" sz="4000" b="1" dirty="0">
              <a:effectLst>
                <a:outerShdw blurRad="38100" dist="38100" dir="2700000" algn="tl">
                  <a:srgbClr val="000000">
                    <a:alpha val="43137"/>
                  </a:srgbClr>
                </a:outerShdw>
              </a:effectLst>
            </a:endParaRPr>
          </a:p>
        </p:txBody>
      </p:sp>
      <p:sp>
        <p:nvSpPr>
          <p:cNvPr id="3" name="Marcador de texto 2"/>
          <p:cNvSpPr>
            <a:spLocks noGrp="1"/>
          </p:cNvSpPr>
          <p:nvPr>
            <p:ph type="body" idx="1"/>
          </p:nvPr>
        </p:nvSpPr>
        <p:spPr>
          <a:xfrm>
            <a:off x="831850" y="1058092"/>
            <a:ext cx="10515600" cy="875212"/>
          </a:xfrm>
        </p:spPr>
        <p:txBody>
          <a:bodyPr/>
          <a:lstStyle/>
          <a:p>
            <a:r>
              <a:rPr lang="es-419" dirty="0"/>
              <a:t>Al comenzar a </a:t>
            </a:r>
            <a:r>
              <a:rPr lang="es-419" dirty="0" smtClean="0"/>
              <a:t>interiorizarnos con </a:t>
            </a:r>
            <a:r>
              <a:rPr lang="es-419" dirty="0"/>
              <a:t>los datos suministrados, </a:t>
            </a:r>
            <a:r>
              <a:rPr lang="es-419" dirty="0" smtClean="0"/>
              <a:t>notamos que </a:t>
            </a:r>
            <a:r>
              <a:rPr lang="es-419" dirty="0"/>
              <a:t>había un faltante de cálculo de tasa de mortalidad en el año </a:t>
            </a:r>
            <a:r>
              <a:rPr lang="es-419" dirty="0" smtClean="0"/>
              <a:t>2014.</a:t>
            </a:r>
            <a:endParaRPr lang="es-ES" dirty="0"/>
          </a:p>
        </p:txBody>
      </p:sp>
      <p:pic>
        <p:nvPicPr>
          <p:cNvPr id="4" name="Imagen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5203" y="1933304"/>
            <a:ext cx="3907792" cy="2795355"/>
          </a:xfrm>
          <a:prstGeom prst="rect">
            <a:avLst/>
          </a:prstGeom>
        </p:spPr>
      </p:pic>
      <p:sp>
        <p:nvSpPr>
          <p:cNvPr id="5" name="Marcador de texto 2"/>
          <p:cNvSpPr txBox="1">
            <a:spLocks/>
          </p:cNvSpPr>
          <p:nvPr/>
        </p:nvSpPr>
        <p:spPr>
          <a:xfrm>
            <a:off x="4924697" y="1933305"/>
            <a:ext cx="6618696" cy="1606730"/>
          </a:xfrm>
          <a:prstGeom prst="rect">
            <a:avLst/>
          </a:prstGeom>
        </p:spPr>
        <p:txBody>
          <a:bodyPr vert="horz" lIns="91440" tIns="45720" rIns="91440" bIns="45720" rtlCol="0">
            <a:normAutofit fontScale="92500" lnSpcReduction="20000"/>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75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r>
              <a:rPr lang="es-419" dirty="0" smtClean="0"/>
              <a:t>Lo llamativo de la situación, y por lo cual notamos el faltante de cálculos, es que los ingresos y los decesos no variaban demasiado al resto de los años, por ende, no nos encontrábamos ante una baja de la tasa de mortalidad en el 2014, sino ante un mal cálculo o un faltante de datos.</a:t>
            </a:r>
            <a:endParaRPr lang="es-ES" dirty="0" smtClean="0"/>
          </a:p>
          <a:p>
            <a:endParaRPr lang="es-ES" dirty="0"/>
          </a:p>
        </p:txBody>
      </p:sp>
      <p:pic>
        <p:nvPicPr>
          <p:cNvPr id="6" name="Imagen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77494" y="3540035"/>
            <a:ext cx="4120987" cy="3100941"/>
          </a:xfrm>
          <a:prstGeom prst="rect">
            <a:avLst/>
          </a:prstGeom>
        </p:spPr>
      </p:pic>
    </p:spTree>
    <p:extLst>
      <p:ext uri="{BB962C8B-B14F-4D97-AF65-F5344CB8AC3E}">
        <p14:creationId xmlns:p14="http://schemas.microsoft.com/office/powerpoint/2010/main" val="130800783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27793" y="468767"/>
            <a:ext cx="10515600" cy="785268"/>
          </a:xfrm>
        </p:spPr>
        <p:txBody>
          <a:bodyPr>
            <a:normAutofit fontScale="90000"/>
          </a:bodyPr>
          <a:lstStyle/>
          <a:p>
            <a:pPr algn="ctr"/>
            <a:r>
              <a:rPr lang="es-ES" b="1" dirty="0" smtClean="0">
                <a:effectLst>
                  <a:outerShdw blurRad="38100" dist="38100" dir="2700000" algn="tl">
                    <a:srgbClr val="000000">
                      <a:alpha val="43137"/>
                    </a:srgbClr>
                  </a:outerShdw>
                </a:effectLst>
              </a:rPr>
              <a:t>Modificaciones</a:t>
            </a:r>
            <a:endParaRPr lang="es-ES" b="1" dirty="0">
              <a:effectLst>
                <a:outerShdw blurRad="38100" dist="38100" dir="2700000" algn="tl">
                  <a:srgbClr val="000000">
                    <a:alpha val="43137"/>
                  </a:srgbClr>
                </a:outerShdw>
              </a:effectLst>
            </a:endParaRPr>
          </a:p>
        </p:txBody>
      </p:sp>
      <p:sp>
        <p:nvSpPr>
          <p:cNvPr id="3" name="Marcador de texto 2"/>
          <p:cNvSpPr>
            <a:spLocks noGrp="1"/>
          </p:cNvSpPr>
          <p:nvPr>
            <p:ph type="body" idx="1"/>
          </p:nvPr>
        </p:nvSpPr>
        <p:spPr>
          <a:xfrm>
            <a:off x="831850" y="1737361"/>
            <a:ext cx="10515600" cy="4352290"/>
          </a:xfrm>
        </p:spPr>
        <p:txBody>
          <a:bodyPr>
            <a:normAutofit fontScale="77500" lnSpcReduction="20000"/>
          </a:bodyPr>
          <a:lstStyle/>
          <a:p>
            <a:r>
              <a:rPr lang="es-419" dirty="0"/>
              <a:t>Considerando que la tasa de mortalidad es un cálculo que surge de dividir el número de muertes en un periodo entre la población media en dicho periodo y multiplicando el resultado por mil, </a:t>
            </a:r>
            <a:r>
              <a:rPr lang="es-419" dirty="0" smtClean="0"/>
              <a:t>se decidió continuar </a:t>
            </a:r>
            <a:r>
              <a:rPr lang="es-419" dirty="0"/>
              <a:t>con la base realizando el cálculo en forma manual porque los datos necesarios se encontraban, a la vez de chequear en forma aleatoria el resultado de los otros años.</a:t>
            </a:r>
          </a:p>
          <a:p>
            <a:r>
              <a:rPr lang="es-419" dirty="0"/>
              <a:t>Para mejor visualización </a:t>
            </a:r>
            <a:r>
              <a:rPr lang="es-419" dirty="0" smtClean="0"/>
              <a:t>se agregó un </a:t>
            </a:r>
            <a:r>
              <a:rPr lang="es-419" dirty="0"/>
              <a:t>código a cada Hospital (CODHOSP), y se los ha identificado por tipo de </a:t>
            </a:r>
            <a:r>
              <a:rPr lang="es-419" dirty="0" smtClean="0"/>
              <a:t>Hospital(TIPHOSP). </a:t>
            </a:r>
            <a:r>
              <a:rPr lang="es-419" dirty="0"/>
              <a:t>N</a:t>
            </a:r>
            <a:r>
              <a:rPr lang="es-419" dirty="0" smtClean="0"/>
              <a:t>o </a:t>
            </a:r>
            <a:r>
              <a:rPr lang="es-419" dirty="0"/>
              <a:t>se encontraban en la base original.</a:t>
            </a:r>
          </a:p>
          <a:p>
            <a:r>
              <a:rPr lang="es-419" dirty="0"/>
              <a:t>El código de Hospital se ha identificado con una abreviatura del nombre del nosocomio. El tipo de Hospital fue dividido en 4:</a:t>
            </a:r>
          </a:p>
          <a:p>
            <a:r>
              <a:rPr lang="es-419" dirty="0"/>
              <a:t>INFANT (infanto juvenil)</a:t>
            </a:r>
          </a:p>
          <a:p>
            <a:r>
              <a:rPr lang="es-419" dirty="0"/>
              <a:t>HOSPESPEC (Hospital con una especialidad específica)</a:t>
            </a:r>
          </a:p>
          <a:p>
            <a:r>
              <a:rPr lang="es-419" dirty="0"/>
              <a:t>PSIQUIAT (psiquiátrico o de enfermedades mentales)</a:t>
            </a:r>
          </a:p>
          <a:p>
            <a:r>
              <a:rPr lang="es-419" dirty="0"/>
              <a:t>GAGUDOS (Hospital general de agudos</a:t>
            </a:r>
            <a:r>
              <a:rPr lang="es-419" dirty="0" smtClean="0"/>
              <a:t>)</a:t>
            </a:r>
          </a:p>
          <a:p>
            <a:endParaRPr lang="es-419" dirty="0"/>
          </a:p>
          <a:p>
            <a:r>
              <a:rPr lang="es-419" dirty="0" smtClean="0"/>
              <a:t>Se agregó un </a:t>
            </a:r>
            <a:r>
              <a:rPr lang="es-419" dirty="0"/>
              <a:t>número de servicio, identificando los mismos bajo la columna "servicio_id"</a:t>
            </a:r>
          </a:p>
          <a:p>
            <a:r>
              <a:rPr lang="es-419" dirty="0"/>
              <a:t>Todo esto </a:t>
            </a:r>
            <a:r>
              <a:rPr lang="es-419" dirty="0" smtClean="0"/>
              <a:t>fue realizado sobre </a:t>
            </a:r>
            <a:r>
              <a:rPr lang="es-419" dirty="0"/>
              <a:t>la base en formato xlsx.</a:t>
            </a:r>
          </a:p>
          <a:p>
            <a:endParaRPr lang="es-ES" dirty="0"/>
          </a:p>
        </p:txBody>
      </p:sp>
    </p:spTree>
    <p:extLst>
      <p:ext uri="{BB962C8B-B14F-4D97-AF65-F5344CB8AC3E}">
        <p14:creationId xmlns:p14="http://schemas.microsoft.com/office/powerpoint/2010/main" val="24418989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p:cNvSpPr>
            <a:spLocks noGrp="1"/>
          </p:cNvSpPr>
          <p:nvPr>
            <p:ph type="body" idx="1"/>
          </p:nvPr>
        </p:nvSpPr>
        <p:spPr>
          <a:xfrm>
            <a:off x="831850" y="248195"/>
            <a:ext cx="10515600" cy="5841456"/>
          </a:xfrm>
        </p:spPr>
        <p:txBody>
          <a:bodyPr/>
          <a:lstStyle/>
          <a:p>
            <a:pPr algn="ctr"/>
            <a:endParaRPr lang="es-419" b="1" dirty="0" smtClean="0">
              <a:effectLst>
                <a:outerShdw blurRad="38100" dist="38100" dir="2700000" algn="tl">
                  <a:srgbClr val="000000">
                    <a:alpha val="43137"/>
                  </a:srgbClr>
                </a:outerShdw>
              </a:effectLst>
            </a:endParaRPr>
          </a:p>
          <a:p>
            <a:pPr algn="ctr"/>
            <a:r>
              <a:rPr lang="es-419" dirty="0"/>
              <a:t>Una vez modificada la base</a:t>
            </a:r>
            <a:r>
              <a:rPr lang="es-419" dirty="0" smtClean="0"/>
              <a:t>, ya en contexto,  vemos qué </a:t>
            </a:r>
            <a:r>
              <a:rPr lang="es-419" dirty="0"/>
              <a:t>hipótesis y objetivos podrán ser de interés</a:t>
            </a:r>
            <a:r>
              <a:rPr lang="es-419" dirty="0" smtClean="0"/>
              <a:t>.</a:t>
            </a:r>
          </a:p>
          <a:p>
            <a:pPr algn="ctr"/>
            <a:endParaRPr lang="es-419" sz="3200" b="1" dirty="0">
              <a:solidFill>
                <a:schemeClr val="tx1"/>
              </a:solidFill>
              <a:effectLst>
                <a:outerShdw blurRad="38100" dist="38100" dir="2700000" algn="tl">
                  <a:srgbClr val="000000">
                    <a:alpha val="43137"/>
                  </a:srgbClr>
                </a:outerShdw>
              </a:effectLst>
              <a:latin typeface="+mj-lt"/>
            </a:endParaRPr>
          </a:p>
          <a:p>
            <a:pPr algn="ctr"/>
            <a:r>
              <a:rPr lang="es-419" sz="3200" b="1" dirty="0" smtClean="0">
                <a:solidFill>
                  <a:schemeClr val="tx1"/>
                </a:solidFill>
                <a:effectLst>
                  <a:outerShdw blurRad="38100" dist="38100" dir="2700000" algn="tl">
                    <a:srgbClr val="000000">
                      <a:alpha val="43137"/>
                    </a:srgbClr>
                  </a:outerShdw>
                </a:effectLst>
                <a:latin typeface="+mj-lt"/>
              </a:rPr>
              <a:t>Contexto </a:t>
            </a:r>
            <a:r>
              <a:rPr lang="es-419" sz="3200" b="1" dirty="0">
                <a:solidFill>
                  <a:schemeClr val="tx1"/>
                </a:solidFill>
                <a:effectLst>
                  <a:outerShdw blurRad="38100" dist="38100" dir="2700000" algn="tl">
                    <a:srgbClr val="000000">
                      <a:alpha val="43137"/>
                    </a:srgbClr>
                  </a:outerShdw>
                </a:effectLst>
                <a:latin typeface="+mj-lt"/>
              </a:rPr>
              <a:t>y Problema</a:t>
            </a:r>
          </a:p>
          <a:p>
            <a:r>
              <a:rPr lang="es-419" dirty="0"/>
              <a:t>El Ministerio de Salud del Gobierno de la Ciudad Autónoma de Buenos Aires, necesita evaluar su desempeño en los Hospitales Públicos en el sector de internaciones. Necesitan saber si la tasa de mortalidad ha aumentado, y en cuáles de sus nosocomios es mayor en el transcurso de estos 6 años para poder tomar las acciones correspondientes.</a:t>
            </a:r>
          </a:p>
          <a:p>
            <a:r>
              <a:rPr lang="es-419" dirty="0"/>
              <a:t>Nos provee un set de datos con información de los ingresos a internación, altas, defunciones, tasa de mortalidad. Así como también la cantidad de pacientes atendidos, el promedio de camas disponibles, servicio y especialidad, entre otros datos.</a:t>
            </a:r>
          </a:p>
          <a:p>
            <a:endParaRPr lang="es-ES" dirty="0"/>
          </a:p>
        </p:txBody>
      </p:sp>
    </p:spTree>
    <p:extLst>
      <p:ext uri="{BB962C8B-B14F-4D97-AF65-F5344CB8AC3E}">
        <p14:creationId xmlns:p14="http://schemas.microsoft.com/office/powerpoint/2010/main" val="426261100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p:cNvSpPr>
            <a:spLocks noGrp="1"/>
          </p:cNvSpPr>
          <p:nvPr>
            <p:ph type="body" idx="1"/>
          </p:nvPr>
        </p:nvSpPr>
        <p:spPr>
          <a:xfrm>
            <a:off x="818787" y="431075"/>
            <a:ext cx="10515600" cy="5358130"/>
          </a:xfrm>
        </p:spPr>
        <p:txBody>
          <a:bodyPr>
            <a:normAutofit fontScale="77500" lnSpcReduction="20000"/>
          </a:bodyPr>
          <a:lstStyle/>
          <a:p>
            <a:pPr algn="ctr"/>
            <a:r>
              <a:rPr lang="es-419" sz="5800" b="1" dirty="0">
                <a:solidFill>
                  <a:schemeClr val="tx1"/>
                </a:solidFill>
                <a:effectLst>
                  <a:outerShdw blurRad="38100" dist="38100" dir="2700000" algn="tl">
                    <a:srgbClr val="000000">
                      <a:alpha val="43137"/>
                    </a:srgbClr>
                  </a:outerShdw>
                </a:effectLst>
                <a:latin typeface="+mj-lt"/>
              </a:rPr>
              <a:t>Hipótesis y </a:t>
            </a:r>
            <a:r>
              <a:rPr lang="es-419" sz="5800" b="1" dirty="0" smtClean="0">
                <a:solidFill>
                  <a:schemeClr val="tx1"/>
                </a:solidFill>
                <a:effectLst>
                  <a:outerShdw blurRad="38100" dist="38100" dir="2700000" algn="tl">
                    <a:srgbClr val="000000">
                      <a:alpha val="43137"/>
                    </a:srgbClr>
                  </a:outerShdw>
                </a:effectLst>
                <a:latin typeface="+mj-lt"/>
              </a:rPr>
              <a:t>Objetivo</a:t>
            </a:r>
          </a:p>
          <a:p>
            <a:endParaRPr lang="es-419" b="1" dirty="0">
              <a:effectLst>
                <a:outerShdw blurRad="38100" dist="38100" dir="2700000" algn="tl">
                  <a:srgbClr val="000000">
                    <a:alpha val="43137"/>
                  </a:srgbClr>
                </a:outerShdw>
              </a:effectLst>
            </a:endParaRPr>
          </a:p>
          <a:p>
            <a:r>
              <a:rPr lang="es-419" dirty="0" smtClean="0"/>
              <a:t>El gobierno de la Ciudad de Buenos Aires (Argentina) tiene </a:t>
            </a:r>
            <a:r>
              <a:rPr lang="es-419" dirty="0"/>
              <a:t>la impresión de que la tasa de mortalidad está relacionada al tipo de servicio de internaciones.</a:t>
            </a:r>
          </a:p>
          <a:p>
            <a:r>
              <a:rPr lang="es-419" dirty="0"/>
              <a:t>A su vez, ha solicitado un análisis de la cantidad de camas disponibles en los nosocomios, para saber si se requiere ampliar la capacidad de internación. Esto afectaría al presupuesto público, y al sector de Obras </a:t>
            </a:r>
            <a:r>
              <a:rPr lang="es-419" dirty="0" smtClean="0"/>
              <a:t>Públicas</a:t>
            </a:r>
          </a:p>
          <a:p>
            <a:endParaRPr lang="es-419" dirty="0"/>
          </a:p>
          <a:p>
            <a:r>
              <a:rPr lang="es-419" b="1" dirty="0">
                <a:effectLst>
                  <a:outerShdw blurRad="38100" dist="38100" dir="2700000" algn="tl">
                    <a:srgbClr val="000000">
                      <a:alpha val="43137"/>
                    </a:srgbClr>
                  </a:outerShdw>
                </a:effectLst>
              </a:rPr>
              <a:t>Analizaremos lo siguiente:</a:t>
            </a:r>
            <a:endParaRPr lang="es-419" dirty="0">
              <a:effectLst>
                <a:outerShdw blurRad="38100" dist="38100" dir="2700000" algn="tl">
                  <a:srgbClr val="000000">
                    <a:alpha val="43137"/>
                  </a:srgbClr>
                </a:outerShdw>
              </a:effectLst>
            </a:endParaRPr>
          </a:p>
          <a:p>
            <a:pPr lvl="1"/>
            <a:r>
              <a:rPr lang="es-419" dirty="0" smtClean="0"/>
              <a:t>* 1. Ha variado la tasa de mortalidad anual?</a:t>
            </a:r>
          </a:p>
          <a:p>
            <a:pPr lvl="1"/>
            <a:r>
              <a:rPr lang="es-419" dirty="0" smtClean="0"/>
              <a:t>* 2. Con qué tipo se servicios trabajan los Hospitales?</a:t>
            </a:r>
          </a:p>
          <a:p>
            <a:pPr lvl="1"/>
            <a:r>
              <a:rPr lang="es-419" dirty="0" smtClean="0"/>
              <a:t>* 3. Qué servicios tienen mayores ingresos?</a:t>
            </a:r>
          </a:p>
          <a:p>
            <a:pPr lvl="1"/>
            <a:r>
              <a:rPr lang="es-419" dirty="0" smtClean="0"/>
              <a:t>* 3.1. Cuál es la tasa de mortalidad por servicio anual? y cuáles tienen mayor tasa de mortalidad?</a:t>
            </a:r>
          </a:p>
          <a:p>
            <a:pPr lvl="1"/>
            <a:r>
              <a:rPr lang="es-419" dirty="0" smtClean="0"/>
              <a:t>* 3.2. Cuáles son los 3 Hospitales con mayor tasa de mortalidad?</a:t>
            </a:r>
          </a:p>
          <a:p>
            <a:pPr lvl="1"/>
            <a:r>
              <a:rPr lang="es-419" dirty="0" smtClean="0"/>
              <a:t>* 4. La cantidad de camas disponibles, corresponde a la cantidad de pacientes atendidos?</a:t>
            </a:r>
          </a:p>
          <a:p>
            <a:pPr lvl="1"/>
            <a:r>
              <a:rPr lang="es-419" dirty="0" smtClean="0"/>
              <a:t>* 4.1. Alcanzan las camas de los Hospitales para el servicio de internación?</a:t>
            </a:r>
          </a:p>
          <a:p>
            <a:pPr marL="800100" lvl="1" indent="-342900">
              <a:buFont typeface="Arial" panose="020B0604020202020204" pitchFamily="34" charset="0"/>
              <a:buChar char="•"/>
            </a:pPr>
            <a:r>
              <a:rPr lang="es-419" dirty="0" smtClean="0"/>
              <a:t>5. Qué variables inciden más en la tasa de mortalidad?</a:t>
            </a:r>
          </a:p>
          <a:p>
            <a:pPr marL="800100" lvl="1" indent="-342900">
              <a:buFont typeface="Arial" panose="020B0604020202020204" pitchFamily="34" charset="0"/>
              <a:buChar char="•"/>
            </a:pPr>
            <a:endParaRPr lang="es-419" dirty="0"/>
          </a:p>
          <a:p>
            <a:pPr lvl="1"/>
            <a:r>
              <a:rPr lang="es-419" dirty="0"/>
              <a:t>Nuestro objetivo es responder estos interrogantes y generar recomendaciones para optimizar el servicio en estos nosocomios.</a:t>
            </a:r>
            <a:endParaRPr lang="es-ES" dirty="0"/>
          </a:p>
        </p:txBody>
      </p:sp>
    </p:spTree>
    <p:extLst>
      <p:ext uri="{BB962C8B-B14F-4D97-AF65-F5344CB8AC3E}">
        <p14:creationId xmlns:p14="http://schemas.microsoft.com/office/powerpoint/2010/main" val="387759569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1850" y="313510"/>
            <a:ext cx="10515600" cy="836021"/>
          </a:xfrm>
        </p:spPr>
        <p:txBody>
          <a:bodyPr>
            <a:normAutofit/>
          </a:bodyPr>
          <a:lstStyle/>
          <a:p>
            <a:pPr algn="ctr"/>
            <a:r>
              <a:rPr lang="es-ES" sz="4800" b="1" dirty="0" smtClean="0">
                <a:effectLst>
                  <a:outerShdw blurRad="38100" dist="38100" dir="2700000" algn="tl">
                    <a:srgbClr val="000000">
                      <a:alpha val="43137"/>
                    </a:srgbClr>
                  </a:outerShdw>
                </a:effectLst>
              </a:rPr>
              <a:t>Descripción de Columnas</a:t>
            </a:r>
            <a:endParaRPr lang="es-ES" sz="4800" b="1" dirty="0">
              <a:effectLst>
                <a:outerShdw blurRad="38100" dist="38100" dir="2700000" algn="tl">
                  <a:srgbClr val="000000">
                    <a:alpha val="43137"/>
                  </a:srgbClr>
                </a:outerShdw>
              </a:effectLst>
            </a:endParaRPr>
          </a:p>
        </p:txBody>
      </p:sp>
      <p:sp>
        <p:nvSpPr>
          <p:cNvPr id="3" name="Marcador de texto 2"/>
          <p:cNvSpPr>
            <a:spLocks noGrp="1"/>
          </p:cNvSpPr>
          <p:nvPr>
            <p:ph type="body" idx="1"/>
          </p:nvPr>
        </p:nvSpPr>
        <p:spPr>
          <a:xfrm>
            <a:off x="831850" y="1384663"/>
            <a:ext cx="10515600" cy="5277394"/>
          </a:xfrm>
        </p:spPr>
        <p:txBody>
          <a:bodyPr>
            <a:normAutofit fontScale="62500" lnSpcReduction="20000"/>
          </a:bodyPr>
          <a:lstStyle/>
          <a:p>
            <a:r>
              <a:rPr lang="es-419" dirty="0"/>
              <a:t>SERVICIO: Corresponde al servicio de ingreso del paciente en Hospital</a:t>
            </a:r>
          </a:p>
          <a:p>
            <a:r>
              <a:rPr lang="es-419" dirty="0"/>
              <a:t>SERVICIO_ID: número que se le asignado a cada uno de los 10 servicios</a:t>
            </a:r>
          </a:p>
          <a:p>
            <a:r>
              <a:rPr lang="es-419" dirty="0"/>
              <a:t>CODHOSP: abreviatura del nombre del nosocomio</a:t>
            </a:r>
          </a:p>
          <a:p>
            <a:r>
              <a:rPr lang="es-419" dirty="0"/>
              <a:t>TIPHOSP: tipo o especialidad, se dividen en 4</a:t>
            </a:r>
          </a:p>
          <a:p>
            <a:r>
              <a:rPr lang="es-419" dirty="0"/>
              <a:t>ESPECIALIDADES: tipo de especialidad del servicio</a:t>
            </a:r>
          </a:p>
          <a:p>
            <a:r>
              <a:rPr lang="es-419" dirty="0"/>
              <a:t>TOTAL: La sumatoria entres de los pacientes que fallecieron y los que fueron dados de alta</a:t>
            </a:r>
          </a:p>
          <a:p>
            <a:r>
              <a:rPr lang="es-419" dirty="0"/>
              <a:t>ALTAS:cantidad de pacientes dados de alta</a:t>
            </a:r>
          </a:p>
          <a:p>
            <a:r>
              <a:rPr lang="es-419" dirty="0"/>
              <a:t>DEF:cantidad de pacientes fallecidos</a:t>
            </a:r>
          </a:p>
          <a:p>
            <a:r>
              <a:rPr lang="es-419" dirty="0"/>
              <a:t>TASA_MORT_HOSP: Tasa de mortalidad del Hospital</a:t>
            </a:r>
          </a:p>
          <a:p>
            <a:r>
              <a:rPr lang="es-419" dirty="0"/>
              <a:t>PORCENTAJE_OCUP_ porcentaje ocupación Hospital</a:t>
            </a:r>
          </a:p>
          <a:p>
            <a:r>
              <a:rPr lang="es-419" dirty="0"/>
              <a:t>ANIO: año de ingreso del paciente</a:t>
            </a:r>
          </a:p>
          <a:p>
            <a:r>
              <a:rPr lang="es-419" dirty="0"/>
              <a:t>NOM_EFECTOR_BADATA, CODHOSP,SK_ID_EFECTOR : nombre del Hospital, abreviatura y código.</a:t>
            </a:r>
          </a:p>
          <a:p>
            <a:r>
              <a:rPr lang="es-419" dirty="0"/>
              <a:t>PAC_DIA: pacientes diarios</a:t>
            </a:r>
          </a:p>
          <a:p>
            <a:r>
              <a:rPr lang="es-419" dirty="0"/>
              <a:t>PROMEDIO_CAMAS_DISP: promedio de camas disponibles</a:t>
            </a:r>
          </a:p>
          <a:p>
            <a:r>
              <a:rPr lang="es-419" dirty="0"/>
              <a:t>PROMEDIO_PAC_DIA:promedio de pacientes diarios</a:t>
            </a:r>
          </a:p>
          <a:p>
            <a:r>
              <a:rPr lang="es-419" dirty="0"/>
              <a:t>PROMEDIO_PERM: promedio de permanencia en internación</a:t>
            </a:r>
          </a:p>
          <a:p>
            <a:r>
              <a:rPr lang="es-419" dirty="0"/>
              <a:t>GIRO,PASES_A,PASES_B,ING_PASES: movimientos e/Hospitales</a:t>
            </a:r>
          </a:p>
          <a:p>
            <a:r>
              <a:rPr lang="es-419" dirty="0"/>
              <a:t>SK_ID_EFECTOR: id del hospital</a:t>
            </a:r>
          </a:p>
          <a:p>
            <a:endParaRPr lang="es-ES" dirty="0"/>
          </a:p>
        </p:txBody>
      </p:sp>
    </p:spTree>
    <p:extLst>
      <p:ext uri="{BB962C8B-B14F-4D97-AF65-F5344CB8AC3E}">
        <p14:creationId xmlns:p14="http://schemas.microsoft.com/office/powerpoint/2010/main" val="285927557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1850" y="587829"/>
            <a:ext cx="10515600" cy="1086576"/>
          </a:xfrm>
        </p:spPr>
        <p:txBody>
          <a:bodyPr>
            <a:normAutofit fontScale="90000"/>
          </a:bodyPr>
          <a:lstStyle/>
          <a:p>
            <a:pPr algn="ctr"/>
            <a:r>
              <a:rPr lang="es-419" sz="4000" b="1" dirty="0">
                <a:effectLst>
                  <a:outerShdw blurRad="38100" dist="38100" dir="2700000" algn="tl">
                    <a:srgbClr val="000000">
                      <a:alpha val="43137"/>
                    </a:srgbClr>
                  </a:outerShdw>
                </a:effectLst>
              </a:rPr>
              <a:t>Comenzamos a responder las preguntas</a:t>
            </a:r>
            <a:br>
              <a:rPr lang="es-419" sz="4000" b="1" dirty="0">
                <a:effectLst>
                  <a:outerShdw blurRad="38100" dist="38100" dir="2700000" algn="tl">
                    <a:srgbClr val="000000">
                      <a:alpha val="43137"/>
                    </a:srgbClr>
                  </a:outerShdw>
                </a:effectLst>
              </a:rPr>
            </a:br>
            <a:endParaRPr lang="es-ES" sz="4000" dirty="0">
              <a:effectLst>
                <a:outerShdw blurRad="38100" dist="38100" dir="2700000" algn="tl">
                  <a:srgbClr val="000000">
                    <a:alpha val="43137"/>
                  </a:srgbClr>
                </a:outerShdw>
              </a:effectLst>
            </a:endParaRPr>
          </a:p>
        </p:txBody>
      </p:sp>
      <p:sp>
        <p:nvSpPr>
          <p:cNvPr id="3" name="Marcador de texto 2"/>
          <p:cNvSpPr>
            <a:spLocks noGrp="1"/>
          </p:cNvSpPr>
          <p:nvPr>
            <p:ph type="body" idx="1"/>
          </p:nvPr>
        </p:nvSpPr>
        <p:spPr>
          <a:xfrm>
            <a:off x="831850" y="2090057"/>
            <a:ext cx="10515600" cy="3999593"/>
          </a:xfrm>
        </p:spPr>
        <p:txBody>
          <a:bodyPr/>
          <a:lstStyle/>
          <a:p>
            <a:r>
              <a:rPr lang="es-419" b="1" dirty="0"/>
              <a:t>1.Ha variado la tasa de mortalidad anual</a:t>
            </a:r>
            <a:r>
              <a:rPr lang="es-419" b="1" dirty="0" smtClean="0"/>
              <a:t>?</a:t>
            </a:r>
          </a:p>
          <a:p>
            <a:r>
              <a:rPr lang="es-419" sz="1800" dirty="0"/>
              <a:t>Podemos observar que hay un pequeño incremento de la curva hacia el año 2014, sube minimamente en el 2015, y va decreciendo hacia el 2017. Sin embargo la diferencia de la tasa de mortalidad en estos 7 años observados no es </a:t>
            </a:r>
            <a:r>
              <a:rPr lang="es-419" sz="1800" dirty="0" smtClean="0"/>
              <a:t>significativa</a:t>
            </a:r>
            <a:r>
              <a:rPr lang="es-419" sz="1800" dirty="0"/>
              <a:t>.</a:t>
            </a:r>
            <a:endParaRPr lang="es-ES" sz="1800" dirty="0"/>
          </a:p>
        </p:txBody>
      </p:sp>
      <p:sp>
        <p:nvSpPr>
          <p:cNvPr id="4" name="AutoShape 2" descr="data:image/png;base64,iVBORw0KGgoAAAANSUhEUgAAAq0AAAHHCAYAAACV22EKAAAAOXRFWHRTb2Z0d2FyZQBNYXRwbG90bGliIHZlcnNpb24zLjUuMiwgaHR0cHM6Ly9tYXRwbG90bGliLm9yZy8qNh9FAAAACXBIWXMAAAxOAAAMTgF/d4wjAABA+UlEQVR4nO3de1hVZf7//xcgKIhyUAQxMcIUtTEFw6nMEVEx1LLMskidtNIaM03GyUNmzYzKWEiljloWpmlZyoyVCiaeSrMZ8pDhIRwVvgZiAhKEoMDvD3/uj1vEjboPS3k+rsvraq9177Xf992+7NXa97pvp02bNlUJAAAAMDBnRxcAAAAAWEJoBQAAgOERWgEAAGB4hFYAAAAYHqEVAAAAhkdoBQAAgOERWgEAAGB4hFYAtRIZGWnxz5AhQxxd5mWtX79ekZGRVrvekCFDFBkZqb/97W+XPT9+/HhFRkbqhRdesNpnSuf7sXbt2mt+f1JSktm/o9zcXEVGRmr37t0W3xsZGan169df82df7/Vmz56tyMhILViwwGo1WIO1v1sAalbP0QUAuDHMmzfP7PUrr7yikJAQ/fGPfzQdc3V1tXNVjuPh4aFvvvlGv/32mzw8PEzHT5w4oT179pgds5b169eroqJCMTExVrmer6+v5s2bp1atWlnlerZSVlamLVu2SJK++uorPfPMM3JxcXFwVQDsjdAKoFbat29v9trV1VVeXl7VjtcV4eHhSk9P19atW9W3b1/T8Q0bNiggIEB+fn6qrKy0ymeVlZWpfv36VrnWxdzc3G6If3/btm1TSUmJunbtqp07dyo9PV0RERGOLguAnRFaAVhFSUmJ3nvvPX3//ffKy8tTw4YNFRoaqlGjRqlly5amdvn5+Vq4cKHS09NVVFSkRo0aqU2bNpo4caJ8fHxUVVWlhQsX6r///a9ycnLk6uqqkJAQPfPMMwoNDbVYR25urt566y3t2rVL7u7u6t27t9nnX1BRUaGPP/5YKSkpys3NVePGjdWzZ089/fTTcnNzs/g59evXV/fu3bVhwwaz0JqamqrevXtrz5491d5zoe87d+7Ub7/9pqCgID3++OOKiooytVm/fr3i4+OVmJioVatWKT09XW3atFFVVZXpmhd+jr7zzjuVmJiovLw8JSUlac+ePfrll1/k4+Ojjh07atSoUWrSpMkVx+rxxx/XnDlz1KlTJ0lSZWWlkpKS9OWXX6qkpETt27fXiy++WO29e/fu1cqVK3Xw4EEVFRXJ399fPXr00JNPPmk2frW93pWkpKSoUaNGevnllzVkyBClpKRUC61JSUlasmSJlixZonfeeUf79u2Tj4+PHn74YT3yyCNm7davX6+PP/7Y7P2zZs1Sbm6uEhMTJdX++wzAfgitAKzit99+07lz5zR8+HD5+vqqpKREqamp+tOf/qSkpCT5+vpKkmbMmKETJ05o1KhRatasmQoKCvT999+rrKxM0vmQk5+fr0cffVR+fn4qLy/X119/rbFjx2rhwoUKDg6usYZz584pLi5OZ86c0Ysvvihvb2998cUX2rx5c7W2f//737Vjxw4NGTJEd9xxh44dO6b3339fubm5ev3112vV5+joaE2YMEEnT56Un5+fMjIylJ2drT59+lQLrWfOnNG4ceP066+/6umnn5afn582bNigv/3tbzpz5oz69etn1n7GjBnq1auXHnzwQVVVValp06aaMWOGKioqNGHCBEkyTUEoKChQw4YN9eyzz8rb21uFhYX697//rRdeeEFJSUm1CuEXLFmyRMuWLdPgwYPVpUsXHTx4UJMnT67WLicnR6GhoYqJiZGHh4eOHz+u5cuX6+eff9bUqVOv+no1+eWXX/T999+rf//+8vb21j333KOvv/5axcXF8vT0rNZ+2rRpiomJ0ZAhQ7R9+3bNmzdPt956q7p06VLrz5Rq/30GYD+EVgBW4efnZwpT0vk7mV27dtVTTz2ltLQ0092uH3/8UU8//bR69+5tatujRw/TP7u4uJiFmsrKSnXp0kU5OTn68ssvNWbMmBprSElJ0fHjxzVv3jzTz95du3bViBEjzNrt3btXmzZt0ssvv6zo6GhJ53/ub9SokWbMmKGffvpJt99+u8U+33nnnfLz89NXX32lxx9/XKmpqerQoYNatGhRre26deuUnZ2txMRE3XnnnabaCgoKtHjxYvXt29dsnmaPHj30zDPPmF3Dw8NDFRUV1X7Sb9u2rdq2bWt6fWHsH3roIX333Xfq1q2bxb5IUnFxsT799FP1799fzz33nCTprrvukouLixYtWmTW9sK4XfC73/1OLVu21Pjx4/XCCy/Iy8vrqq5Xkw0bNqiyslJ9+vSRJPXp00ebNm3S5s2b1b9//2rtH3vsMd1///2Szv87/f7777V58+arDq21/T4DsB9CKwCr2bJliz799FNlZWXp119/NR3Pysoy/XNoaKg++eQTOTk5qXPnzrr11lvl5ORkdp3vv/9eH330kQ4fPqzTp0+bjjs7X3nBk3379qlZs2Zmoc7Z2VmRkZFKSkoyHfvuu+/k6uqq7t27q6KiwnT8rrvuknQ+1NYmtDo5OalXr17asGGDHnnkEW3atEkjR468bNu9e/fKz8/PFFgv6N27t+Lj45WVlWV2F/nee++1+PkXW7NmjT7//HP9/PPP+u2330zHLx57Sw4fPqzS0lKz/4mQzk9HuDRk/vbbb/roo4+0efNmnTx5UmfPnjWdO378uLy8vK7qejVJSUnRLbfcog4dOkg6/+/I19dXKSkplw2tv//9781e33bbbcrLy6vVZ12qNt9nAPZDaAVgFTt27ND06dM1cOBADR06VI0bN5azs7Nmz56t8vJyU7tp06YpKSlJH330kd555x01adJEDzzwgJ588kk5Ozvr0KFDevnll9WtWzf9+c9/lo+Pj1xcXPT++++bphDUJD8/Xz4+PtWOX3qssLBQZ8+erfEp/KKiolr3u0+fPvroo4+0dOlSlZaW1rj8UVFR0WV/Ur5w7OJwfvHx2khOTtbcuXMVGxurjh07ytPTU05OTnr55ZfNxt6SU6dOSao+XperJT4+Xj/88IOGDh2q4OBgubu7Ky8vT9OmTTN95tVc73IOHDigY8eO6fHHH1dxcbHpeLdu3bRmzRodP3682l3txo0bm712dXW9qjG4oLbfZwD2Q2gFYBVpaWnq1KlTtYdsLg2APj4+Gj9+vMaPH6/s7GytXbtWH3zwgby8vPTggw9q27Ztatq0qV555RWzO7ClpaUW77T6+vrq6NGj1Y4XFBSYvW7cuLHc3Nz09ttvX/Y6V3p46VJBQUEKDQ3VRx99pG7duqlRo0aXbde4cWNlZ2dXO56fny9J8vLyMjt+6d3nK0lLS1OfPn3MpkGcPXv2qsK39H/9LigoMLvre6HGCy7MM/7zn/9s9hDaxcHyaq5Xk5SUFEnSihUrtGLFisuev3TqhyVubm5md4UvuPR/Gmr7fQZgP2wuAMAqysrKqq3T+t133+nkyZM1vqdly5YaNWqUGjVqpCNHjkg6/8BSvXr1zELbkSNH9OOPP1qsoUOHDsrLy1NGRobpWGVlpTZt2mTWLiIiQuXl5SouLjbNB734T9OmTWvV5wsee+wxRUREaODAgTW2ufPOO3Xy5En98MMPZsc3btwoHx8fBQUFWfwcV1fXy95tvtzYr1u37qqX3AoJCVGDBg2qPbh26fidPXtWlZWV1R7w+vLLL6/pepdz9uxZpaWlqUOHDpozZ061P61bt1Zqaqqqqqpq30FJ/v7+KiwsNPsfmaKiomrfr2v5PgOwLe60ArCKiIgIJSQkKCkpSR07dtThw4e1fPlyswBYXFysuLg49erVS0FBQXJxcdE333yjX3/91fSgTNeuXfXZZ58pMTFR9913n3JycrRkyRIFBARYrCE6OlorVqzQtGnT9PTTT8vb21uff/652RxPSerUqZN69uyp6dOna/DgwQoNDZWzs7Nyc3P17bff6rnnnrvsw1Q16dGjR7V5m5fq27evVq9erVdffVUjR440PcD13//+V3FxcbVaLP/WW2/Vv//9b6WlpalFixZyd3dXUFCQIiIitHLlSgUFBSk4OFj79u3T559/ftmn66/E09NTgwcP1rJly+Th4aEuXbrowIEDWrdunVm7hg0bqkOHDqZ5qQ0bNtTGjRt18ODBa7re5ezYsUNFRUV68MEHTctxXWzAgAGaM2eO9uzZc9nzNenatavc3d3117/+VUOGDFFJSYk+/vjjaptB1Ob7DMC+CK0ArKJfv3765ZdftHbtWq1YsUK33XabXn31VbMHoNzc3HT77bfriy++0IkTJ+Ts7KyWLVtqypQppifcu3TponHjxmnlypVau3atWrZsqT/96U/69ttvlZube8UaXF1dNXv2bL399ttKTExUgwYNFBUVpa5du2rOnDlmbadMmaLVq1dr3bp1WrZsmdzc3OTv76+IiAh5e3tbe3jUoEEDJSYmasGCBVq0aJFKS0vVsmVLTZ482WwlhSt5/PHHlZ2drTfeeEOlpaWmdVqHDRum3377TcuXL1dpaanatWun+Ph4TZky5arrHD58uKqqqvTll18qOTlZ7dq109///nc99dRTZu2mTp2qt99+WwkJCXJxcdHvf/97TZs2TaNHj76m610qJSVFDRs2VPfu3S97vmfPnpo/f77Wr19/VaHV09NTM2fO1Lx58zRt2jT5+flp2LBhSk9PN/t+1eb7DMC+nDZt2nR1v61YyaFDh7RgwQJlZGTI1dVV4eHhmj59uiQpOztbCQkJysjIkI+Pj4YNG1btgYnly5dr9erVKi4uVnh4uCZMmMC6eQAAADcph8xpPXbsmF566SX97ne/0z//+U/NnTtXPXv2lHR+cfBJkybJy8tLCxYs0NChQ5WQkKD09HTT+9etW6elS5dq7Nixmjt3rkpKSvTaa685oisAAACwA4dMD1i8eLHuu+8+s5+HWrVqJUnauXOn8vLytGjRInl4eCg4OFh79uxRcnKywsPDJZ1f3mXQoEGmn40mTpyo2NhYZWZmqnXr1vbvEAAAAGzK7ndaKyoq9J///EcBAQEaN26cHn74YcXFxenw4cOSzq/LFxoaajYpPiwsTPv375d0fqmVw4cPq3PnzqbzgYGBCggIMHtiGAAAADcPu99pPX36tM6cOaNPPvlEo0ePVmhoqJKTkzVhwgQtW7ZMBQUF1R6CuLCXtnR+aZLKyspqi1Vf3OZilZWVOnXqlNzd3a9q3UMAAADYT1VVlUpLS9WkSZPLrstt99B6Yd3AP/zhD3rggQckSRMmTNDgwYO1fft2i++/2jX5Tp06pUcfffTqCwUAAIDdrVy5Un5+ftWO2z20enl5mZa5MRVRr56aN2+uvLw8+fj4VNvXubCw0HT39cL7L93h5uI2F3N3d5d0fkWCS7f3M7LJkydrxowZji7jpsX42h5jbHuMsW0xvrbHGNvWjTa+RUVFatmypSm7XcruodXV1VW33367jh8/bjpWUVGh3Nxc+fv7y8PDQytXrlRpaamp6F27dqldu3aSzq/zGBISot27d5sezMrJyVFubq7at29f7fMuTAlo3LjxDRVa3dzcbqh6bzSMr+0xxrbHGNsW42t7jLFt3ajjW9N0TocsefXII4/oq6++0oYNG5Sdna25c+dKku655x5FRESoadOmio+P15EjR7R27VqlpaXpoYceMr1/4MCBWrVqlbZt26bMzEzNnj1bHTt2ZOUAAACAm5RDlrzq1auXCgsL9d577+nXX39V27Zt9eabb6phw4aSpJkzZyohIUGjRo2Sr6+vxo0bZ7qrKkkxMTEqKChQYmKiaXOBuLg4R3TFZqKjox1dwk2N8bU9xtj2GGPbYnxtjzG2rZttfB22I5a9lJSUqH///jp9+vQNeYscAACgLigqKpKXl5e++OIL043MizlkegAAAABwNQitAAAAMDxCKwAAAAyP0AoAAADDI7QCAADA8AitAAAAMDxCKwAAAAyP0AoAAADDI7QCAADA8AitAAAAMDxCKwAAAAyP0AoAAADDI7QCAADA8AitAAAAMDxCKwAAAAyP0AoAAADDI7QCAADA8AitAAAAMDxCKwAAAAyP0AoAAADDI7QCAADA8AitAAAAMDxCKwAAAAyP0AoAAADDI7QCAADA8AitAAAAMDxCKwAAAAyP0AoAAADDI7QCAADA8AitAAAAMDxCKwAAAAyP0AoAAADDI7QCAADA8AitAABcIioqSlFRUY4uA8BFCK0AAAAwPEIrAAAADI/QCgAAAMMjtAIAAMDwCK0AAAAwPEIrAAAADI/QCgAA7I5lxXC1CK0AAAAwPEIrAAAADI/QCgAAAMMjtAIAAMDwCK0AAAAwPEIrAAAADI/QCgAAAMMjtAIAAMDwCK0AAAAwPEIrAAAADI/QCgAAAMMjtAIAAMDw6jniQ5OSkrRkyRKzY/fee6/+9re/SZKys7OVkJCgjIwM+fj4aNiwYYqJiTFrv3z5cq1evVrFxcUKDw/XhAkT5Ovra7c+AAAAwH4cElolKTQ0VH//+99Nr93c3CRJ586d06RJk9S6dWstWLBAGRkZSkhIkL+/v8LDwyVJ69at09KlSzVp0iQFBgZq7ty5eu211/TWW285pC8AAACwLYeF1nr16l32zujOnTuVl5enRYsWycPDQ8HBwdqzZ4+Sk5NNoTU5OVmDBg1S9+7dJUkTJ05UbGysMjMz1bp1a7v2AwAAALbnsDmthw8f1sMPP6yhQ4cqMTFRv/76qyTpwIEDCg0NlYeHh6ltWFiY9u/fL0kqLy/X4cOH1blzZ9P5wMBABQQEKCMjw76dAAAHiYqKUlRUlKPLAAC7ccid1vbt22vSpElq0aKFcnNz9e6772rq1KlKTExUQUGBvL29zdp7e3ursLBQklRUVKTKykr5+PjU2AYAAAA3F4eE1oiICNM/33bbbWrVqpWefPJJHTp0yOJ7q6qqrukzJ0+ebJo3Gx0drejo6Gu6DgAAgNFd+CVm48aNDq7kylJSUpSSkiLp/K/pV+KwOa0Xa9GihTw9PZWTkyMfHx9lZWWZnS8sLDTdffXy8pKzs7MKCgpqbHM5M2bMUOPGja1dOgAAAK7RxTcSi4qKNG/evBrbGmKd1hMnTqi4uFgBAQEKDQ3VwYMHVVpaajq/a9cutWvXTtL5VQZCQkK0e/du0/mcnBzl5uaqffv29i4dAAAAduCQO60LFizQvffeKz8/P+Xk5GjBggXq0KGD2rRpo4qKCjVt2lTx8fEaPny49u/fr7S0NM2aNcv0/oEDB2ru3Llq06aNmjdvrvnz56tjx46sHAAAAHCTckhoPXHihKZPn66ioiI1adJEd911l0aOHClnZ2c5Oztr5syZSkhI0KhRo+Tr66tx48aZlruSpJiYGBUUFCgxMdG0uUBcXJwjugIAAAA7cEhoffXVV694PigoSImJiVdsExsbq9jYWCtWBQAAAKMyxJxWAAAA4EoIrQAAADA8QisAAAAMj9AKAAAAwyO0AgAAwPAIrQAAADA8QisAAAAMj9AKAAAAwyO0AgAAwPAIrQAAADA8QisAAAAMj9AKAAAAwyO0AgAAwPAIrQAAADA8QisAAAAMj9AKAAAAwyO0AgAAwPAIrQAAADA8QisAAAAMj9AKAAAAwyO0AgAAwPAIrQAAADA8QisAAAAMr56jCwAA4IIzZ86ovLzc0WWYFBUVOboEEzc3NzVo0MDRZQAOQ2gFABjCmTNnFNwqSLl5Jx1dinr27ClJ8vLycnAl/yegmZ+OHMsiuKLOIrQCAAyhvLxcuXkntfOdZ+Xp7ubQWl5YniFJ+vG9MQ6t44Li0nJ1fWGRysvLCa2oswitBhQVFSVJ2rhxo4MrAQD783R3UyOP+o4uQ5IMUwcAHsQCAADADYA7rQAA1BFGe9BNMs7DbjzoZnyEVgAA6gAjPegmGe9hNx50Mz5CKwAAdYCRHnSTjPWwGw+63RgIrQAA1CFGetBN4mE31B4PYgEAAMDwCK0AAAAwPEIrAAAADI/QCgAAAMMjtAIAAMDwCK0AAAAwPEIrAKuLiopSVFSUo8sAANxECK0AAAAwPDYXAIBaYt/2mrFvOwBbI7QCQC2wb/uVsW87AFsjtKLOuTDXcuPGjQ6uBDcS9m2vGfu2A7AHQisAXAX2bQcAxyC0AgAAWInR5r4bZd67dP1z3wmtAAAAVmCkue9Gm/cuXf/cd0IrAACAFRhp7ruR5r1L1pn7TmgFAACwIiPNfTdKHdbA5gIAAAAwPEIrAAAADI/QCgAAAMMjtAIAAMDwCK0AAAAwPIeH1qlTpyoyMlLp6emmY9nZ2Ro/fryio6M1ZMgQrV27ttr7li9frkceeUR9+/bVlClTlJ+fb8+yAQAAYEcODa3r1q1TWVmZ2bFz585p0qRJ8vLy0oIFCzR06FAlJCSYhdp169Zp6dKlGjt2rObOnauSkhK99tpr9i4fAAAAduKw0Jqbm6ukpCRNnDjR7PjOnTuVl5eniRMnKjg4WP369VPPnj2VnJxsapOcnKxBgwape/fuat26tSZOnKi9e/cqMzPT3t0AAACAHTgktFZWVmrWrFn64x//KD8/P7NzBw4cUGhoqDw8PEzHwsLCtH//fknnd5s4fPiwOnfubDofGBiogIAAZWRk2KcDAAAAsCuHhNbPPvtM7u7uuv/++6udKygokLe3t9kxb29vFRYWSpKKiopUWVkpHx+fGtsAAADg5mL3bVyPHTumlStXasGCBdf0/qqqqmt63+TJk+Xmdn4f4OjoaEVHR1/TdQAAAGAdKSkpSklJkXT+1/QrsXto3b9/v/Lz8/XYY4+ZHZ84caIiIyPVvHlzZWVlmZ0rLCw03X318vKSs7OzCgoKamxzOTNmzFDjxo2t0gcAAABcv4tvJBYVFWnevHk1trV7aO3WrZvatm1rdmzEiBF66aWXFBERoUOHDmnlypUqLS2Vu7u7JGnXrl1q166dJMnNzU0hISHavXu3wsPDJUk5OTnKzc1V+/bt7dsZAAAA2IXdQ6unp6c8PT2rHQ8ICJCfn5+8vb3VtGlTxcfHa/jw4dq/f7/S0tI0a9YsU9uBAwdq7ty5atOmjZo3b6758+erY8eOat26tT27AgAAADupVWgtLi7W/v37de7cOYWGhlZ7CMqaXF1dNXPmTCUkJGjUqFHy9fXVuHHjTHdVJSkmJkYFBQVKTExUcXGxwsPDFRcXZ7OaAAAA4FgWQ+uBAwc0efJk05P5DRo00NSpU3XPPfdYrYhNmzaZvQ4KClJiYuIV3xMbG6vY2Fir1QAAAADjsrjk1cKFC9WhQwd9+umn+ve//63o6Gi9/fbb9qgNAAAAkFSL0JqZmalnnnlGTZo0UaNGjTR69GidPHlSRUVF9qgPAAAAsBxaS0pK1KhRI9Pr+vXrq379+iouLrZpYQAAAMAFtXoQa+PGjWbbqlZWVmrLli3y8vIyHYuJibF+dQAAAIBqEVqbNWumVatWmR3z8fHRmjVrTK+dnJwIrQAAALAZi6H1448/tkcdAAAAQI2ueXOBc+fO6ezZs6Zdq250Z86csbjnrb0Z5WE3Nzc3NWjQwNFlAACAOsxiaN2+fbuKiorUt29f07ElS5boo48+UkVFhe688069+uqrZvNbbzRnzpxRcKsg5eaddHQpkqSePXtKkmHGNKCZn44cyyK4AgAAh7EYWj/55BNFRUWZXu/evVsffvihRowYoZYtW+r9999XUlKSXnzxRZsWakvl5eXKzTupne88K093N0eXoxeWZ0iSfnxvjIMrkYpLy9X1hUUqLy8ntAKoM5Ke7uzoEgBcwmJoPXbsmDp06GB6vWXLFnXt2tW0G1WDBg00Z86cGzq0XuDp7qZGHvUdXYaJkWoBAABwJIvrtJaVlalhw4am13v37lVYWJjpdatWrVRQUGCb6gAAAADVIrQGBAQoI+P8z9X5+fk6evSoOnbsaDp/6tQpeXp62q5CAAAA1HkWpwcMGDBAiYmJ+vHHH/Xjjz8qJCREbdq0MZ3fs2ePWrdubdMiAQAAULdZDK0PP/ywXF1d9d1336lNmzYaOnSo2fnc3Fzdf//9NisQAAAAqNU6rQMGDNCAAQMue278+PFWLQgAAAC4VK03Fzhx4oS2bdum48ePS5JatGih++67T/7+/jYrDgAAAJBqGVo//vhjLV68WG5ubmrevLkkKTU1VQsXLtTIkSM1ZMgQmxYJAACAus1iaE1LS9OSJUs0ZswY9evXT/XqnX/LuXPn9MUXX2jhwoVq1qyZaRcnAI5jtO2I2YoYAGAtFkPrp59+qmeffVYPPvig+Rvr1dPAgQNVWVmpTz/9lNAKiwhUNbNGqDLSdsRsRQwAsDaLofXIkSO6++67azx/zz33aNGiRVYtCjcfAtWVWSNUGWk7YrYiBmAJW+XialkMrfXq1VNpaWmN50tLS01TBoCaEKhqZu1QZaTtiI1SBwDgxmcxbd5xxx36/PPPNXbs2MueX7Nmje644w6rF4abE4EKAABcC4uhdfjw4Ro3bpxOnz6twYMHq2XLlpKkY8eO6bPPPtM333yjxMREW9cJAACAOsxiaG3Xrp1mzpypOXPm6Pnnn5eTk5MkqaqqSs2bN9eMGTPUrl07mxcKAPg/zAcEUNfUajJqWFiYPvzwQx06dEg///yzqqqq1KJFC7Vp08YUYgEAAABbqfUTVE5OTmrbtq3atm1ry3oAAACAaiyG1vfff79WFxoxYsR1FwMAAABcjsXQ+sMPP1R73aZNG9Wv/39PXjNFAAAAALZkMbTOmTPH7HVMTIymTp2qwMBAmxUFAAAAXMzZ0QUAAAAAlrCVFQAAwE3mZlwWjzutAAAAMDyLd1rXrl1r9rqyslJbtmyRl5eX2fGYmBjrVgYAAAD8/yyG1qVLl5q99vHx0Zo1a8yOOTk5EVoBAABgMxZD64oVK+xRBwAAAFAjq89p7devn37++WdrXxYAAAB1mNVDa1VVlbUvCQAAgDqO1QMAAABgeIRWAAAAGB6hFQAAAIZHaAUAAIDhWQyte/bsUUVFRa0v6O/vr3r12B0WAAAA1mMxtL700ksqKiqq9QU/+OADNWvW7LqKAgAAAC5mMbSyhBUAAAAcrVZzWp2cnGxdBwAAAFCjWk0+feWVV+Tq6nrFNgkJCVYpCAAAALhUrUJraGio3N3dbV0LAAAAcFm1Cq1PPPGEfHx8bF0LAAAAcFkW57QynxUAAACOdt2rB5w9e1bJyclWKwgAAAC4lMXQmpaWJknavn27vvvuO9NGA+Xl5Vq5cqWGDBmipUuX2rZKAAAA1GkW57Tu3r1bU6ZMUWlpqZycnBQSEqKJEyfq1VdfVePGjfXss8+qZ8+e9qgVAAAAdZTF0Pree+8pJiZGI0aM0Jdffqn58+drxowZmjBhgsLCwuxRIwAAAOo4i6H16NGjmjRpktzd3fXQQw9pwYIFeu65564rsC5fvlzr169XXl6e6tevrzvuuEOjR49Wy5YtJUnZ2dlKSEhQRkaGfHx8NGzYMMXExFS7xurVq1VcXKzw8HBNmDBBvr6+11yTkSQ93dnRJQAAABiKxTmtv/32mzw8PCRJLi4ucnNzU4sWLa7rQwMDA/Xiiy/qgw8+0JtvvilnZ2dNmjRJknTu3DlNmjRJXl5eWrBggYYOHaqEhASlp6eb3r9u3TotXbpUY8eO1dy5c1VSUqLXXnvtumoCAACAcdVqndaNGzeagmtlZaW2bNkiLy8vszaX3gm9kh49epi9fuqppzRy5Ejl5+dr//79ysvL06JFi+Th4aHg4GDt2bNHycnJCg8PlyQlJydr0KBB6t69uyRp4sSJio2NVWZmplq3bl3rOgAAAHBjsBhamzVrplWrVple+/j4aM2aNWZtnJycriq0XqysrEzr169Xy5Yt5e3trQMHDig0NNQUkiUpLCxM7777rqTzqxYcPnxYo0aNMp0PDAxUQECAMjIyCK0AAAA3IYuh9eOPP7bJB+/YsUOvv/66ysrKdMsttyg+Pl7Ozs4qKCiQt7e3WVtvb28VFhZKkoqKilRZWVlth66L2wAAAODmUqvpARc7ffq0JFWbHnC1OnXqpPfee0/5+flauXKl/vrXv+rtt9+2+D5Lmx3UZPLkyXJzc5MkRUdHKzo6+pquAwAAAOtISUlRSkqKpPO/pl9JrULr6dOn9e6772rr1q0qKSmRJDVs2FB/+MMf9PTTT19TgHV3d1eLFi3UokULhYaG6oEHHtDOnTvl4+OjrKwss7aFhYWmu69eXl6mO7I1tbmcGTNmqHHjxlddJwAAAGzj4huJRUVFmjdvXo1tLYbW/Px8Pf/885KkIUOGKCgoSJJ07Ngxff7550pPT9fcuXOve7mpqqoqubi4KDQ0VCtXrlRpaanc3d0lSbt27VK7du0kSW5ubgoJCdHu3btND2bl5OQoNzdX7du3v64aAFgHy7YBAKzNYmh9//33FRgYqFmzZpl+Xpekbt26afDgwZo0aZLef/99xcXF1fpDFy5cqG7duqlJkyYqKCjQihUr5OXlpTvuuEP169dX06ZNFR8fr+HDh2v//v1KS0vTrFmzTO8fOHCg5s6dqzZt2qh58+aaP3++OnbsyENYqBUCFQAANx6LoXXnzp2aPn26WWC9wM3NTU899ZSmT59+VR+al5en6dOn6/Tp0/Ly8lLHjh315ptvytPTU5I0c+ZMJSQkaNSoUfL19dW4ceNMd1Wl88trFRQUKDEx0bS5wNWEZgAAANxYLIbW06dPq1mzZjWe9/f3V1FR0VV96CuvvHLF80FBQUpMTLxim9jYWMXGxl7V5wIAAODGZHFHLH9/fx08eLDG8wcOHJC/v79ViwIAAAAuZjG09urVS/Pnz9exY8eqnTt69Kj++c9/qlevXjYpDgAAAJBqMT3giSee0I8//qiRI0eqS5cuatmypSQpKytL6enp6ty5s5544gmbFwoAAIC6y2JodXV1VXx8vFJTU7V161b95z//UVVVlVq0aKG4uDj16dNHzs4Wb9gCAAAA16xWmws4OTmxixQAAAAcxmJoraysrNWFuNsKAAAAW7EYWnv37l2rC23cuPG6iwEAAAAup1bTA5o2barevXsrLCyMO6oAAACwO4uh9eOPP1ZqaqpSU1OVkpKiXr16qU+fPgoODrZHfQAAAIDl0Orn52fafSojI0OpqakaN26c/P391adPHz388MPcfQUAAIBNXVXabN++vcaNG6dFixbJ3d1d//znP1VcXGyr2gAAAABJtZzTKknl5eX6+uuvlZqaqr179+quu+7S66+/rsaNG9uyPgAAAMByaN29e7dpY4Hg4GD17t1bU6dOlaenpz3qAwAAACyH1pdeeknNmjXTgw8+qBYtWkiStm7dWq1dTEyM9asDAAAAVIvQ2qxZMzk5OSktLa3GNk5OToRWAAAA2EytlrwCAAAAHMnqa1X169dPP//8s7UvCwAAgDrM6qG1qqrK2pcEAABAHceuAAAAADA8QisAAAAMj9AKAAAAwyO0AgAAwPCsElorKipM/+zv76969Wq9OywAAABg0XWF1oMHD+qtt97SoEGDTMc++OADNWvW7LoLAwAAAC646luiv/zyizZs2KCUlBSdOHFCYWFheuaZZ2xRGwAAACCplqG1vLxcW7duVUpKin744Qd16tRJ2dnZWrRokUJCQmxdIwAAAOo4i6F19uzZ2rZtm26//XZFRkbqlVdeUePGjdWrVy+5uLjYo0YAAADUcRZD6/r16zVo0CA98sgjzFUFAACAQ1h8EOvNN99UcXGxRo4cqbFjx+pf//qXCgoK7FEbAAAAIKkWd1o7deqkTp066cUXX9TWrVuVmpqq+fPnq6qqSjt27JC3t7e8vb3tUCoAAADqqlqvHlC/fn317t1bvXv31smTJ00rCCxevFgdOnTQW2+9Zcs6AQAAUIdd0y4Afn5+euKJJ/TEE09o//79Sk1NtXZdAAAAgMk1b1117tw5nT17Vu3atVO7du2sWRMAAABgxuKDWNu3b9f69evNji1ZskQxMTHq37+/XnrpJZ0+fdpmBQIAAAAWQ+snn3yi8vJy0+vdu3frww8/1PDhw/Xqq68qPz9fSUlJtqwRAAAAdZzF0Hrs2DF16NDB9HrLli3q2rWrYmNj1b17dz3//PP69ttvbVokAAAA6jaLobWsrEwNGzY0vd67d6/CwsJMr1u1asW6rQAAALApi6E1ICBAGRkZkqT8/HwdPXpUHTt2NJ0/deqUPD09bVchAAAA6jyLqwcMGDBAiYmJ+vHHH/Xjjz8qJCREbdq0MZ3fs2ePWrdubdMiAQAAULdZDK0PP/ywXF1d9d1336lNmzYaOnSo2fnc3Fzdf//9NisQAAAAqNU6rQMGDNCAAQMue278+PHMaQUAAIBNXfPmAmfPntX27duVkpKi//znP9qwYYM16wIAAABMrjq0ZmRkKCUlRZs3b5aHh4fuvvtuzZo1yxa1AQAAAJJqGVrz8vKUmpqq1NRUFRcXq3v37iopKdFbb72lW2+91cYlAgAAoK6zGFonTJigzMxMdevWTWPHjlVYWJicnZ31xRdf2KM+AAAAwPI6rXv27NF9992nvn37qkuXLnJ2tvgWAAAAwKos3mldtmyZUlNTFR8fr3PnzqlHjx6KjIyUk5OTPeoDAAAAarcj1rBhw7Rs2TJNmTJFxcXFiouLU0VFhdasWaOffvrJHnUCAACgDqvV9ICKigpJ0u9+9zvFxcVp1apVmjp1qn7++Wc999xzGjJkiM0LBQAAQN1lcXrASy+9pM8++0w+Pj6mY25uburZs6d69uypU6dO6auvvrJpkQAAAKjbLN5praqquuL5Jk2a6LHHHrNaQQAAAMClarUUAA9dAQAAwJFqtbnAK6+8IldX1yu2SUhIsEpBAAAAwKVqFVpDQ0Pl7u5utQ9dtmyZtm7dquzsbHl4eCgiIkKjRo2St7e3qU12drYSEhKUkZEhHx8fDRs2TDExMWbXWb58uVavXq3i4mKFh4drwoQJ8vX1tVqdAAAAMIZahdYnnnjC7EGs67Vv3z4NHjxYbdu2VUlJid5++229/vrrpru1586d06RJk9S6dWstWLBAGRkZSkhIkL+/v8LDwyVJ69at09KlSzVp0iQFBgZq7ty5eu211/TWW29ZrU4AAAAYg8XQaov5rLNmzTJ7PWbMGI0ZM0bFxcXy9PTUzp07lZeXp0WLFsnDw0PBwcHas2ePkpOTTaE1OTlZgwYNUvfu3SVJEydOVGxsrDIzM9W6dWur1wwAAADHue7VA6zh9OnTcnNzM01BOHDggEJDQ+Xh4WFqExYWpv3790uSysvLdfjwYXXu3Nl0PjAwUAEBAcrIyLB5vQAAALAvi3da09LSbFpAeXm5PvzwQ0VHR8vFxUWSVFBQYDa/VZK8vb1VWFgoSSoqKlJlZWW1KQsXtwEAAMDNo1ZzWm2loqJCM2bMkCQ999xztX7ftdz9nTx5stzc3CRJ0dHRio6OvuprAAAAwHpSUlKUkpIi6fyNzCtxWGitrKxUfHy8srKylJiYaLY6gY+Pj7KysszaFxYWmu6+enl5ydnZWQUFBTW2udSMGTPUuHFjq/YBAAAA1+7iG4lFRUWaN29ejW1rtbmAtVVVVWn27NnKyMjQG2+8US1MhoaG6uDBgyotLTUd27Vrl9q1ayfp/DayISEh2r17t+l8Tk6OcnNz1b59e7v0AQAAAPbjkNCakJCgHTt2aMqUKZKk/Px85efnq6KiQpIUERGhpk2bKj4+XkeOHNHatWuVlpamhx56yHSNgQMHatWqVdq2bZsyMzM1e/ZsdezYkZUDAAAAbkIOmR7wxRdfSJKef/55s+MrVqxQQECAXF1dNXPmTCUkJGjUqFHy9fXVuHHjTMtdSVJMTIwKCgqUmJho2lwgLi7Orv0AAACAfTgktG7atMlim6CgICUmJl6xTWxsrGJjY61UFQAAAIzKIdMDAAAAgKtBaAUAAIDhEVoBAABgeIRWAAAAGB6hFQAAAIZHaAUAAIDhEVoBAABgeIRWAAAAGB6hFQAAAIZHaAUAAIDhEVoBAABgeIRWAAAAGB6hFQAAAIZHaAUAAIDhEVoBAABgeIRWAAAAGB6hFQAAAIZHaAUAAIDhEVoBAABgeIRWAAAAGB6hFQAAAIZHaAUAAIDhEVoBAABgeIRWAAAAGB6hFQAAAIZHaAUAAIDhEVoBAABgeIRWAAAAGB6hFQAAAIZHaAUAAIDhEVoBAABgeIRWAAAAGB6hFQAAAIZHaAUAAIDhEVoBAABgeIRWAAAAGB6hFQAAAIZHaAUAAIDhEVoBAABgeIRWAAAAGB6hFQAAAIZHaAUAAIDhEVoBAABgeIRWAAAAGB6hFQAAAIZHaAUAAIDhEVoBAABgeIRWAAAAGB6hFQAAAIZHaAUAAIDhEVoBAABgeIRWAAAAGB6hFQAAAIZXzxEfunXrVv3rX//SoUOHVFJSoq+++kouLi6m89nZ2UpISFBGRoZ8fHw0bNgwxcTEmF1j+fLlWr16tYqLixUeHq4JEybI19fX3l0BAACAHTjkTmtZWZnCwsL0+OOPVzt37tw5TZo0SV5eXlqwYIGGDh2qhIQEpaenm9qsW7dOS5cu1dixYzV37lyVlJTotddes2cXAAAAYEcOudPau3dvSdLu3burndu5c6fy8vK0aNEieXh4KDg4WHv27FFycrLCw8MlScnJyRo0aJC6d+8uSZo4caJiY2OVmZmp1q1b260fAAAAsA/DzWk9cOCAQkND5eHhYToWFham/fv3S5LKy8t1+PBhde7c2XQ+MDBQAQEBysjIsHu9AAAAsD3DhdaCggJ5e3ubHfP29lZhYaEkqaioSJWVlfLx8amxDQAAAG4uDpkecD2qqqqu6X2TJ0+Wm5ubJCk6OlrR0dHWLAsAAABXKSUlRSkpKZLO/5p+JYYLrT4+PsrKyjI7VlhYaLr76uXlJWdnZxUUFNTY5nJmzJihxo0bW7tcAAAAXKOLbyQWFRVp3rx5NbY13PSA0NBQHTx4UKWlpaZju3btUrt27SRJbm5uCgkJMXuIKycnR7m5uWrfvr29ywUAAIAdOCS0FhUVKTMzU8ePH5ckZWZmKjMzU6WlpYqIiFDTpk0VHx+vI0eOaO3atUpLS9NDDz1kev/AgQO1atUqbdu2TZmZmZo9e7Y6duzIygEAAAA3KYdMD9i+fbvi4+NNr0ePHi1JmjNnjjp16qSZM2cqISFBo0aNkq+vr8aNG2da7kqSYmJiVFBQoMTERNPmAnFxcXbvBwAAAOzDIaG1b9++6tu3b43ng4KClJiYeMVrxMbGKjY21sqVAQAAwIgMN6cVAAAAuBShFQAAAIZHaAUAAIDhEVoBAABgeIRWAAAAGB6hFQAAAIZHaAUAAIDhEVoBAABgeIRWAAAAGB6hFQAAAIZHaAUAAIDhEVoBAABgeIRWAAAAGB6hFQAAAIZHaAUAAIDhEVoBAABgeIRWAAAAGB6hFQAAAIZHaAUAAIDhEVoBAABgeIRWAAAAGB6hFQAAAIZHaAUAAIDhEVoBAABgeIRWAAAAGB6hFQAAAIZHaAUAAIDhEVoBAABgeIRWAAAAGB6hFQAAAIZHaAUAAIDhEVoBAABgeIRWAAAAGB6hFQAAAIZHaAUAAIDhEVoBAABgeIRWAAAAGB6hFQAAAIZHaAUAAIDhEVoBAABgeIRWAAAAGB6hFQAAAIZHaAUAAIDhEVoBAABgeIRWAAAAGB6hFQAAAIZHaAUAAIDhEVoBAABgeIRWAAAAGB6hFQAAAIZHaAUAAIDhEVoBAABgeIRWAAAAGF49RxdwPZYvX67Vq1eruLhY4eHhmjBhgnx9fR1dFgAAAKzshr3Tum7dOi1dulRjx47V3LlzVVJSotdee83RZVnNlj1HHV3CTY3xtT3G2PYYY9tifG2PMbatm218b9jQmpycrEGDBql79+5q3bq1Jk6cqL179yozM9PRpVnFlr1HHV3CTY3xtT3G2PYYY9tifG2PMbatm218b8jQWl5ersOHD6tz586mY4GBgQoICFBGRoYDKwMAAIAt3JBzWouKilRZWSkfHx+z497e3iosLDQ7VlVVZXrPla4nSbn5xSouLbdusdeo5Ey5ck796ugyTONxpfGrDaONsVHGV2KMbe1mHV+JMbY1o4yvZJ0xNtr4SsYZY77DtlebMb5w7kJ2u5TTpk2bLn/GwE6ePKlHH31Uixcv1m233WY6/txzz+nuu+/WsGHDqrUFAACA8a1cuVJ+fn7Vjt+Qd1q9vLzk7OysgoICs+OFhYXy9vY2O9akSROtXLlS7u7ucnJysmOVAAAAqK2qqiqVlpaqSZMmlz1/Q4ZWNzc3hYSEaPfu3QoPD5ck5eTkKDc3V+3btzdr6+zsfNm0DgAAAGPx9PSs8dwNGVolaeDAgZo7d67atGmj5s2ba/78+erYsaNat27t6NIAAABgZTdsaI2JiVFBQYESExNNmwvExcU5uiwAAADYwA35IBYAAADqlhv2TqvRLVu2TFu3blV2drY8PDwUERGhUaNGmT0olp2drYSEBGVkZMjHx0fDhg1TTEyM6fzWrVv1r3/9S4cOHVJJSYm++uorubi4mM6Xl5frjTfe0IEDB/T//t//U2xsrEaOHGnPbjqMPcY3MzNTy5Yt0759+1RSUqJbbrlFTz75pP7whz/Ys6sOY48xzs3N1T/+8Q8dOXJEJSUl8vf314MPPqhHHnnEnl11GHuM8cUOHjyoP/3pT2rXrp3eeecdW3fP4ew1vpGRkdU++913360T09XsNcYVFRX68MMPtX79ehUUFMjf318vvviiunTpYq+uOoQ9xnf9+vWKj4+v9tmtWrVSUlKSLbt31QitNrJv3z4NHjxYbdu2VUlJid5++229/vrrSkhIkCSdO3dOkyZNUuvWrbVgwQJlZGQoISFB/v7+pofLysrKFBYWpvDwcL333nvVPqOiokLu7u56/PHHtXr1arv2z9HsMb4//fST/Pz8NG3aNDVt2lQ7duzQ66+/rjfffFOdOnWyZ3cdwh5j7OLioqioKLVt21aenp7KyMjQ7Nmz5eXlpd69e9u1v45gjzG+oKysTDNnzlSnTp1UVlZml/45mj3H99VXX1XHjh1Nr728vGzbOYOw1xi/+eabOnjwoOLi4tSyZUudOHFCjRs3tls/HcUe4xsZGamIiAizY88//7zuu+8+23fwKhFabWTWrFlmr8eMGaMxY8aouLhYnp6e2rlzp/Ly8rRo0SJ5eHgoODhYe/bsUXJysumLduE/2rt3777sZ7i7u2v8+PGSpJSUFNt1xoDsMb7333+/2etBgwbp22+/1TfffFMnQqs9xtjPz0/9+vUzvQ4ICNDmzZu1b9++OhFa7THGFyxcuFARERHy8PBQenq6TfpjNPYc30aNGsnX19cm/TAye4zx//73P6WmpmrJkiVq0aKFpPN/V9QF9hjf+vXrq379+qbXP/zwg06cOKHo6GjbdOo63JDbuN6ITp8+LTc3N7m7u0uSDhw4oNDQUHl4eJjahIWFaf/+/Y4q8YZmr/E9ffp0nfi/+8uxxxgfPnxY+/bt0x133HHd9d6IbDXG6enpSk9P19NPP23Vem80tvwOz5o1Sw899JDGjh2rHTt2WK3mG40txvjbb79VYGCgNm/erEcffVTDhg3TkiVLVFFRYfX6jc4efw+npKSoQ4cOuuWWW667XmvjTqsdlJeX68MPP1R0dLRpHklBQUG1jRAutw0tLLPX+G7ZskVZWVnq1avXdVR7Y7L1GI8ZM0aHDh3SuXPnNGLEiDpxl/VSthrj4uJivfHGG3rllVfk5uZmxYpvLLb8Do8cOVJhYWFycXHR119/rSlTpmj27NmmO111ha3GODc3V7m5ufrvf/+r6dOn69SpU0pISJCLi4uefPJJK/bA2Ozx37qysjJt3rxZo0ePvs5qbYPQamMVFRWaMWOGpPPbzMK67DW++/bt0z/+8Q/FxcWpefPmNvscI7LHGE+bNk0lJSXav3+/Fi5cqJYtW9aZB94k247xO++8o8jIyGobr9Qltv4OXxyc2rZtqxMnTuizzz6rU6HVlmNcWVmps2fP6i9/+YtpWsCJEyeUnJxcZ0Krvf5bt23bNp07d049evSw2WdcD0KrDVVWVio+Pl5ZWVlKTEw03c6XJB8fH2VlZZm1v9w2tKiZvcb3wIEDevnllzVq1Kg6d5fVXmPcrFkzSVJwcLDy8/P10Ucf1ZnQausx3rNnj06ePKlPPvlE0vltEquqqhQVFaUPPvhAQUFBVumHUTni7+E2bdroiy++uK5r3EhsPca+vr5ydXU1m8caFBSkkydPXnftNwJ7fodTUlJ07733XnFXKkdiTquNVFVVafbs2crIyNAbb7xRbR5kaGioDh48qNLSUtOxXbt2qV27dvYu9YZkr/H96aefNHHiRA0dOlQPPPCAVWq/UTjqO1xZWVnjkk03G3uM8ezZs/Xee++Z/gwYMEC333673nvvvZv+VwNHfYcPHz5cZx4UsscYt2vXTmfPnjULqcePH68TW7Tb8zt88uRJff/99+rbt+91120rhFYbSUhI0I4dOzRlyhRJUn5+vvLz800TxyMiItS0aVPFx8fryJEjWrt2rdLS0vTQQw+ZrlFUVKTMzEwdP35c0vl1QzMzM82+nEePHjUdKygoMGt/M7PH+B45ckRxcXHq2bOnevfubfqM4uJiO/fWMewxxl9//bW++uorZWVl6fjx40pJSdHKlSvVs2dPO/fWMewxxi1btlRwcLDpj4+Pj+rXr6/g4GC5urraucf2ZY/x3bFjh9atW6ejR48qOztby5cvV2pqqtk1bmb2GOOIiAi1atVKb7zxho4cOaL09HQtX75c/fv3t3Nv7c9eWUKSUlNT5evra+hpLeyIZSOXW2xaklasWGH6P/CsrCzTgsC+vr4aOnSo2fI/NS34O2fOHNOSS0OGDNGJEyfMzt95551KTEy0TkcMyh7jm5SUpCVLllQ7Hx0drZdfftlKPTEue4zxt99+q6SkJNPPW4GBgerfv78GDhxo/Q4ZkL3+nrhYUlKS0tPT68TmAvYY3++++04LFy7Uzz//LGdnZwUFBSk2NlbdunWzTacMxl7f4ZycHM2ZM0d79+6Vt7e37r//fj355JM3/a8y9vw7YtiwYbrvvvv0zDPPWLcTVkRoBQAAgOExPQAAAACGR2gFAACA4RFaAQAAYHiEVgAAABgeoRUAAACGR2gFAACA4RFaAQAAYHiEVgAAABgeoRUAAACGR2gFAAdbv369oqKiqm0bPGvWLEVGRurzzz83O7548WKNGzfO9HrcuHFavHixWZv9+/fr5ZdfVv/+/RUdHa3Ro0crLS3NZn0AAFsjtAKAg6WmpmrQoEFKTU2tds7NzU1Lly5VeXl5ra/3/fff68UXX5S/v7/eeustffDBB+rTp4/+8Y9/aMWKFdYsHQDshtAKAA504sQJHTx4UCNGjJAk/fDDD2bn7777bjk5OWnNmjW1ul5lZaUSEhJ07733avz48QoJCVFgYKAefvhhjR49WosXL1Zubq7V+wEAtkZoBQAHSk1N1d13360GDRqoR48eSklJMTvv6uqqoUOHavny5SotLbV4vZ9++knHjx/X4MGDq53r16+f3NzctHXrVqvVDwD2QmgFAAdKTU1Vz549JUk9e/bU5s2bVVZWZtbm/vvvl4eHh1atWmXxesePH5ckBQUFVTvn6uqq5s2bm9oAwI2E0AoADrJv3z4VFhbqrrvukiSFhISoadOm+uabb8zaubi4aPjw4frkk09UXFzsiFIBwOEIrQDgIKmpqSouLlbfvn0VFRWlqKgoZWVlVZsiIElRUVHy8/PTJ598csVrtmjRQpJ07NixaufOnj2rnJwcUxsAuJHUc3QBAFAXlZeXa9OmTfrLX/6itm3bmo4XFBToz3/+s06dOmXW3tnZWU899ZRmzpypqKioGq97++23KzAwUJ9++qk6dOhgdu7LL79UWVmZunfvbt3OAIAdcKcVABzgwhSAXr16KTg42PQnLCxMrVq10oYNG6q957777lNQUNBll8a6wNnZWePHj9f27ds1Z84c/e9//1NOTo5Wr16tBQsWaOTIkQoICLBZvwDAVgitAOAAKSkp+v3vf6969ar/4HXvvfdedoqAJI0YMcLimq1dunRRYmKicnNz9cILL2j48OFKSUlRXFycnnjiCavUDwD25rRp06YqRxcBAAAAXAl3WgEAAGB4hFYAAAAYHqEVAAAAhkdoBQAAgOERWgEAAGB4hFYAAAAYHqEVAAAAhkdoBQAAgOERWgEAAGB4/x/VrUiagzQ0+gA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pic>
        <p:nvPicPr>
          <p:cNvPr id="6" name="Imagen 5"/>
          <p:cNvPicPr/>
          <p:nvPr/>
        </p:nvPicPr>
        <p:blipFill rotWithShape="1">
          <a:blip r:embed="rId2"/>
          <a:srcRect l="23459" t="31060" r="35795" b="23134"/>
          <a:stretch/>
        </p:blipFill>
        <p:spPr bwMode="auto">
          <a:xfrm>
            <a:off x="2586446" y="3396343"/>
            <a:ext cx="6165668" cy="310896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98510880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p:cNvSpPr>
            <a:spLocks noGrp="1"/>
          </p:cNvSpPr>
          <p:nvPr>
            <p:ph type="body" idx="1"/>
          </p:nvPr>
        </p:nvSpPr>
        <p:spPr>
          <a:xfrm>
            <a:off x="831850" y="418011"/>
            <a:ext cx="10515600" cy="5671639"/>
          </a:xfrm>
        </p:spPr>
        <p:txBody>
          <a:bodyPr/>
          <a:lstStyle/>
          <a:p>
            <a:r>
              <a:rPr lang="es-419" b="1" dirty="0"/>
              <a:t>2. Con qué tipo se servicios trabajan los Hospitales</a:t>
            </a:r>
            <a:r>
              <a:rPr lang="es-419" b="1" dirty="0" smtClean="0"/>
              <a:t>?</a:t>
            </a:r>
          </a:p>
          <a:p>
            <a:endParaRPr lang="es-419" b="1" dirty="0"/>
          </a:p>
          <a:p>
            <a:r>
              <a:rPr lang="es-419" dirty="0" smtClean="0"/>
              <a:t>['Cirugia' 'Urgencia' 'Pediatria' 'Tocoginecologia' 'Medicina'</a:t>
            </a:r>
          </a:p>
          <a:p>
            <a:r>
              <a:rPr lang="es-419" dirty="0" smtClean="0"/>
              <a:t> 'Internacion De Corta Estadia' 'Area Indiferenciada'</a:t>
            </a:r>
          </a:p>
          <a:p>
            <a:r>
              <a:rPr lang="es-419" dirty="0" smtClean="0"/>
              <a:t> 'Cuidados Genereales - Area Indiferenciada' 'Cuidados Especiales']</a:t>
            </a:r>
          </a:p>
          <a:p>
            <a:endParaRPr lang="es-419" dirty="0"/>
          </a:p>
          <a:p>
            <a:endParaRPr lang="es-419" dirty="0" smtClean="0"/>
          </a:p>
          <a:p>
            <a:r>
              <a:rPr lang="es-419" dirty="0" smtClean="0"/>
              <a:t>Los servicios que poseen los Hospitales se encuentran divididos en 9.</a:t>
            </a:r>
          </a:p>
          <a:p>
            <a:r>
              <a:rPr lang="es-419" dirty="0" smtClean="0"/>
              <a:t>Los pacientes son destinados a alguno de éstos, según su afección/ingreso.</a:t>
            </a:r>
            <a:endParaRPr lang="es-ES" dirty="0"/>
          </a:p>
        </p:txBody>
      </p:sp>
    </p:spTree>
    <p:extLst>
      <p:ext uri="{BB962C8B-B14F-4D97-AF65-F5344CB8AC3E}">
        <p14:creationId xmlns:p14="http://schemas.microsoft.com/office/powerpoint/2010/main" val="68288710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p:cNvSpPr>
            <a:spLocks noGrp="1"/>
          </p:cNvSpPr>
          <p:nvPr>
            <p:ph type="body" idx="1"/>
          </p:nvPr>
        </p:nvSpPr>
        <p:spPr>
          <a:xfrm>
            <a:off x="831850" y="522514"/>
            <a:ext cx="10515600" cy="6335485"/>
          </a:xfrm>
        </p:spPr>
        <p:txBody>
          <a:bodyPr/>
          <a:lstStyle/>
          <a:p>
            <a:r>
              <a:rPr lang="es-419" b="1" dirty="0"/>
              <a:t>3. Qué servicios poseen mayores ingresos</a:t>
            </a:r>
            <a:r>
              <a:rPr lang="es-419" b="1" dirty="0" smtClean="0"/>
              <a:t>?</a:t>
            </a:r>
          </a:p>
          <a:p>
            <a:r>
              <a:rPr lang="es-419" dirty="0"/>
              <a:t>Los servicios que poseen mayor </a:t>
            </a:r>
            <a:r>
              <a:rPr lang="es-419" dirty="0" smtClean="0"/>
              <a:t>ingreso </a:t>
            </a:r>
            <a:r>
              <a:rPr lang="es-419" dirty="0"/>
              <a:t>de pacientes son:</a:t>
            </a:r>
          </a:p>
          <a:p>
            <a:r>
              <a:rPr lang="es-419" dirty="0" smtClean="0"/>
              <a:t>Medicina: 13.573.463- Urgencia: 9.385.310-Cirugia: 8.343.124</a:t>
            </a:r>
            <a:endParaRPr lang="es-419" dirty="0"/>
          </a:p>
          <a:p>
            <a:r>
              <a:rPr lang="es-419" dirty="0" smtClean="0"/>
              <a:t>Pediatria: 2.987.461-Tocoginecologia: 1.984.473</a:t>
            </a:r>
            <a:endParaRPr lang="es-419" dirty="0"/>
          </a:p>
          <a:p>
            <a:endParaRPr lang="es-419" b="1" dirty="0" smtClean="0"/>
          </a:p>
          <a:p>
            <a:endParaRPr lang="es-ES" dirty="0"/>
          </a:p>
        </p:txBody>
      </p:sp>
      <p:pic>
        <p:nvPicPr>
          <p:cNvPr id="4" name="Imagen 3"/>
          <p:cNvPicPr/>
          <p:nvPr/>
        </p:nvPicPr>
        <p:blipFill rotWithShape="1">
          <a:blip r:embed="rId2"/>
          <a:srcRect l="22754" t="36395" r="19039" b="9643"/>
          <a:stretch/>
        </p:blipFill>
        <p:spPr bwMode="auto">
          <a:xfrm>
            <a:off x="831850" y="2312126"/>
            <a:ext cx="10676527" cy="438912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70567595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p:cNvSpPr>
            <a:spLocks noGrp="1"/>
          </p:cNvSpPr>
          <p:nvPr>
            <p:ph type="body" idx="1"/>
          </p:nvPr>
        </p:nvSpPr>
        <p:spPr>
          <a:xfrm>
            <a:off x="831850" y="418011"/>
            <a:ext cx="10515600" cy="5671639"/>
          </a:xfrm>
        </p:spPr>
        <p:txBody>
          <a:bodyPr/>
          <a:lstStyle/>
          <a:p>
            <a:r>
              <a:rPr lang="es-419" b="1" dirty="0"/>
              <a:t>3.1 Cuál es la tasa de mortalidad por servicio anual</a:t>
            </a:r>
            <a:r>
              <a:rPr lang="es-419" b="1" dirty="0" smtClean="0"/>
              <a:t>?</a:t>
            </a:r>
          </a:p>
          <a:p>
            <a:r>
              <a:rPr lang="es-419" dirty="0"/>
              <a:t>Podemos observar que URGENCIA, MEDICINA Y CIRUGIA son los servicios con mayor tasa de mortalidad</a:t>
            </a:r>
            <a:endParaRPr lang="es-419" b="1" dirty="0" smtClean="0"/>
          </a:p>
          <a:p>
            <a:endParaRPr lang="es-ES" dirty="0"/>
          </a:p>
        </p:txBody>
      </p:sp>
      <p:pic>
        <p:nvPicPr>
          <p:cNvPr id="4" name="Imagen 3"/>
          <p:cNvPicPr/>
          <p:nvPr/>
        </p:nvPicPr>
        <p:blipFill rotWithShape="1">
          <a:blip r:embed="rId2"/>
          <a:srcRect l="23106" t="39218" r="20273" b="6191"/>
          <a:stretch/>
        </p:blipFill>
        <p:spPr bwMode="auto">
          <a:xfrm>
            <a:off x="718457" y="1867989"/>
            <a:ext cx="10855234" cy="4221661"/>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05998739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p:cNvSpPr>
            <a:spLocks noGrp="1"/>
          </p:cNvSpPr>
          <p:nvPr>
            <p:ph type="body" idx="1"/>
          </p:nvPr>
        </p:nvSpPr>
        <p:spPr>
          <a:xfrm>
            <a:off x="339633" y="718457"/>
            <a:ext cx="11312435" cy="6008914"/>
          </a:xfrm>
        </p:spPr>
        <p:txBody>
          <a:bodyPr/>
          <a:lstStyle/>
          <a:p>
            <a:r>
              <a:rPr lang="es-419" b="1" dirty="0"/>
              <a:t>3.2. Cuáles son los 3 Hospitales con mayor tasa de mortalidad</a:t>
            </a:r>
            <a:r>
              <a:rPr lang="es-419" b="1" dirty="0" smtClean="0"/>
              <a:t>?</a:t>
            </a:r>
            <a:endParaRPr lang="es-419" b="1" dirty="0"/>
          </a:p>
          <a:p>
            <a:r>
              <a:rPr lang="es-419" sz="1200" dirty="0"/>
              <a:t>Los Hospitales que poseen mayor tasa de mortalidad son:</a:t>
            </a:r>
          </a:p>
          <a:p>
            <a:r>
              <a:rPr lang="es-419" sz="1200" dirty="0"/>
              <a:t>HGASANT(HOSPITAL GENERAL DE AGUDOS DONACION F. SANTOJANNI) </a:t>
            </a:r>
            <a:r>
              <a:rPr lang="es-419" sz="1200" dirty="0" smtClean="0"/>
              <a:t>: 97.922</a:t>
            </a:r>
            <a:endParaRPr lang="es-419" sz="1200" dirty="0"/>
          </a:p>
          <a:p>
            <a:r>
              <a:rPr lang="es-419" sz="1200" dirty="0"/>
              <a:t>HGATOR (HOSPITAL GENERAL DE AGUDOS DR. E. TORNU</a:t>
            </a:r>
            <a:r>
              <a:rPr lang="es-419" sz="1200" dirty="0" smtClean="0"/>
              <a:t>):  84.345</a:t>
            </a:r>
            <a:endParaRPr lang="es-419" sz="1200" dirty="0"/>
          </a:p>
          <a:p>
            <a:r>
              <a:rPr lang="es-419" sz="1200" dirty="0"/>
              <a:t>HIMUÑIZ (HOSPITAL DE INFECCIOSAS F. MUÑIZ) </a:t>
            </a:r>
            <a:r>
              <a:rPr lang="es-419" sz="1200" dirty="0" smtClean="0"/>
              <a:t>: 80.264</a:t>
            </a:r>
            <a:endParaRPr lang="es-419" sz="1200" dirty="0"/>
          </a:p>
          <a:p>
            <a:r>
              <a:rPr lang="es-419" sz="1200" dirty="0"/>
              <a:t>En cuanto a los tipos de Hospitales con mayor tasa de mortalidad son los hospitales de agudos y de especialidades.</a:t>
            </a:r>
          </a:p>
          <a:p>
            <a:endParaRPr lang="es-ES" sz="1000" dirty="0"/>
          </a:p>
        </p:txBody>
      </p:sp>
      <p:pic>
        <p:nvPicPr>
          <p:cNvPr id="7" name="Imagen 6"/>
          <p:cNvPicPr/>
          <p:nvPr/>
        </p:nvPicPr>
        <p:blipFill rotWithShape="1">
          <a:blip r:embed="rId2"/>
          <a:srcRect l="24518" t="29806" r="39323" b="22819"/>
          <a:stretch/>
        </p:blipFill>
        <p:spPr bwMode="auto">
          <a:xfrm>
            <a:off x="600891" y="2788239"/>
            <a:ext cx="5029199" cy="3730127"/>
          </a:xfrm>
          <a:prstGeom prst="rect">
            <a:avLst/>
          </a:prstGeom>
          <a:ln>
            <a:noFill/>
          </a:ln>
          <a:extLst>
            <a:ext uri="{53640926-AAD7-44D8-BBD7-CCE9431645EC}">
              <a14:shadowObscured xmlns:a14="http://schemas.microsoft.com/office/drawing/2010/main"/>
            </a:ext>
          </a:extLst>
        </p:spPr>
      </p:pic>
      <p:pic>
        <p:nvPicPr>
          <p:cNvPr id="9" name="Imagen 8"/>
          <p:cNvPicPr/>
          <p:nvPr/>
        </p:nvPicPr>
        <p:blipFill rotWithShape="1">
          <a:blip r:embed="rId3"/>
          <a:srcRect l="24695" t="31374" r="39674" b="22505"/>
          <a:stretch/>
        </p:blipFill>
        <p:spPr bwMode="auto">
          <a:xfrm>
            <a:off x="6388009" y="2788239"/>
            <a:ext cx="4959441" cy="3730127"/>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23014916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p:cNvSpPr>
            <a:spLocks noGrp="1"/>
          </p:cNvSpPr>
          <p:nvPr>
            <p:ph type="body" idx="1"/>
          </p:nvPr>
        </p:nvSpPr>
        <p:spPr>
          <a:xfrm>
            <a:off x="209006" y="444137"/>
            <a:ext cx="11138444" cy="6257109"/>
          </a:xfrm>
        </p:spPr>
        <p:txBody>
          <a:bodyPr/>
          <a:lstStyle/>
          <a:p>
            <a:r>
              <a:rPr lang="es-419" b="1" dirty="0"/>
              <a:t>4.La cantidad de camas disponibles, corresponde a la cantidad de pacientes atendidos</a:t>
            </a:r>
            <a:r>
              <a:rPr lang="es-419" b="1" dirty="0" smtClean="0"/>
              <a:t>?</a:t>
            </a:r>
          </a:p>
          <a:p>
            <a:r>
              <a:rPr lang="es-419" sz="1600" dirty="0"/>
              <a:t>Observamos que la cantidad de camas disponibles supera levemente la cantidad de pacientes. Es Importante tener en cuenta que no todas las consultas devienen en una internación</a:t>
            </a:r>
            <a:r>
              <a:rPr lang="es-419" sz="1600" dirty="0" smtClean="0"/>
              <a:t>.</a:t>
            </a:r>
          </a:p>
          <a:p>
            <a:r>
              <a:rPr lang="es-419" sz="1600" dirty="0" smtClean="0"/>
              <a:t>En el gráfico de “camas por internaciones”, podemos ver que </a:t>
            </a:r>
            <a:r>
              <a:rPr lang="es-419" sz="1600" dirty="0"/>
              <a:t>las internaciones son menores a las camas </a:t>
            </a:r>
            <a:r>
              <a:rPr lang="es-419" sz="1600" dirty="0" smtClean="0"/>
              <a:t>disponibles. Y más aún en los Hospitales Psiquiátricos.</a:t>
            </a:r>
            <a:endParaRPr lang="es-ES" sz="1600" dirty="0"/>
          </a:p>
        </p:txBody>
      </p:sp>
      <p:pic>
        <p:nvPicPr>
          <p:cNvPr id="4" name="Imagen 3"/>
          <p:cNvPicPr/>
          <p:nvPr/>
        </p:nvPicPr>
        <p:blipFill rotWithShape="1">
          <a:blip r:embed="rId2"/>
          <a:srcRect l="24165" t="33885" r="39323" b="18112"/>
          <a:stretch/>
        </p:blipFill>
        <p:spPr bwMode="auto">
          <a:xfrm>
            <a:off x="655728" y="2404745"/>
            <a:ext cx="4673918" cy="4126683"/>
          </a:xfrm>
          <a:prstGeom prst="rect">
            <a:avLst/>
          </a:prstGeom>
          <a:ln>
            <a:noFill/>
          </a:ln>
          <a:extLst>
            <a:ext uri="{53640926-AAD7-44D8-BBD7-CCE9431645EC}">
              <a14:shadowObscured xmlns:a14="http://schemas.microsoft.com/office/drawing/2010/main"/>
            </a:ext>
          </a:extLst>
        </p:spPr>
      </p:pic>
      <p:pic>
        <p:nvPicPr>
          <p:cNvPr id="6" name="Imagen 5"/>
          <p:cNvPicPr/>
          <p:nvPr/>
        </p:nvPicPr>
        <p:blipFill rotWithShape="1">
          <a:blip r:embed="rId3"/>
          <a:srcRect l="23636" t="29806" r="39323" b="22192"/>
          <a:stretch/>
        </p:blipFill>
        <p:spPr bwMode="auto">
          <a:xfrm>
            <a:off x="5479642" y="2404744"/>
            <a:ext cx="5506222" cy="4126683"/>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96236694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p:cNvSpPr>
            <a:spLocks noGrp="1"/>
          </p:cNvSpPr>
          <p:nvPr>
            <p:ph type="body" idx="1"/>
          </p:nvPr>
        </p:nvSpPr>
        <p:spPr>
          <a:xfrm>
            <a:off x="831850" y="600891"/>
            <a:ext cx="10515600" cy="6126480"/>
          </a:xfrm>
        </p:spPr>
        <p:txBody>
          <a:bodyPr/>
          <a:lstStyle/>
          <a:p>
            <a:r>
              <a:rPr lang="es-419" b="1" dirty="0"/>
              <a:t>5. Qué variables inciden más en la tasa de mortalidad</a:t>
            </a:r>
            <a:r>
              <a:rPr lang="es-419" b="1" dirty="0" smtClean="0"/>
              <a:t>?</a:t>
            </a:r>
          </a:p>
          <a:p>
            <a:r>
              <a:rPr lang="es-419" sz="1600" b="1" dirty="0" smtClean="0"/>
              <a:t>En este paso nos quedamos sólo con las variables numéricas. Eliminando: </a:t>
            </a:r>
            <a:r>
              <a:rPr lang="es-ES" sz="1600" b="1" dirty="0" smtClean="0"/>
              <a:t>'SERVICIO', 'ESPECIALIDADES','NOM_EFECTOR_BADATA', 'CODHOSP','TIPHOSP‘.  Y </a:t>
            </a:r>
            <a:r>
              <a:rPr lang="es-ES" sz="1600" b="1" dirty="0"/>
              <a:t>r</a:t>
            </a:r>
            <a:r>
              <a:rPr lang="es-ES" sz="1600" b="1" dirty="0" smtClean="0"/>
              <a:t>ealizamos una Matriz de Correlación, que es lo que nos dará la respuesta a la pregunta 5.</a:t>
            </a:r>
          </a:p>
          <a:p>
            <a:endParaRPr lang="es-ES" sz="1600" dirty="0"/>
          </a:p>
        </p:txBody>
      </p:sp>
      <p:pic>
        <p:nvPicPr>
          <p:cNvPr id="2" name="Imagen 1"/>
          <p:cNvPicPr>
            <a:picLocks noChangeAspect="1"/>
          </p:cNvPicPr>
          <p:nvPr/>
        </p:nvPicPr>
        <p:blipFill rotWithShape="1">
          <a:blip r:embed="rId2"/>
          <a:srcRect l="27845" t="32231" r="29787" b="7769"/>
          <a:stretch/>
        </p:blipFill>
        <p:spPr>
          <a:xfrm>
            <a:off x="3213463" y="2129245"/>
            <a:ext cx="5512526" cy="4389121"/>
          </a:xfrm>
          <a:prstGeom prst="rect">
            <a:avLst/>
          </a:prstGeom>
        </p:spPr>
      </p:pic>
    </p:spTree>
    <p:extLst>
      <p:ext uri="{BB962C8B-B14F-4D97-AF65-F5344CB8AC3E}">
        <p14:creationId xmlns:p14="http://schemas.microsoft.com/office/powerpoint/2010/main" val="23258819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1615440" y="482283"/>
            <a:ext cx="9144000" cy="797877"/>
          </a:xfrm>
        </p:spPr>
        <p:txBody>
          <a:bodyPr>
            <a:normAutofit fontScale="90000"/>
          </a:bodyPr>
          <a:lstStyle/>
          <a:p>
            <a:r>
              <a:rPr lang="es-ES" b="1" dirty="0" smtClean="0">
                <a:effectLst>
                  <a:outerShdw blurRad="38100" dist="38100" dir="2700000" algn="tl">
                    <a:srgbClr val="000000">
                      <a:alpha val="43137"/>
                    </a:srgbClr>
                  </a:outerShdw>
                </a:effectLst>
              </a:rPr>
              <a:t>Graficamos las 3 variables</a:t>
            </a:r>
            <a:endParaRPr lang="es-ES" b="1" dirty="0">
              <a:effectLst>
                <a:outerShdw blurRad="38100" dist="38100" dir="2700000" algn="tl">
                  <a:srgbClr val="000000">
                    <a:alpha val="43137"/>
                  </a:srgbClr>
                </a:outerShdw>
              </a:effectLst>
            </a:endParaRPr>
          </a:p>
        </p:txBody>
      </p:sp>
      <p:pic>
        <p:nvPicPr>
          <p:cNvPr id="6" name="Imagen 5"/>
          <p:cNvPicPr>
            <a:picLocks noChangeAspect="1"/>
          </p:cNvPicPr>
          <p:nvPr/>
        </p:nvPicPr>
        <p:blipFill rotWithShape="1">
          <a:blip r:embed="rId2"/>
          <a:srcRect l="26239" t="34375" r="41734" b="21340"/>
          <a:stretch/>
        </p:blipFill>
        <p:spPr>
          <a:xfrm>
            <a:off x="522514" y="1920239"/>
            <a:ext cx="3360523" cy="2612571"/>
          </a:xfrm>
          <a:prstGeom prst="rect">
            <a:avLst/>
          </a:prstGeom>
        </p:spPr>
      </p:pic>
      <p:pic>
        <p:nvPicPr>
          <p:cNvPr id="7" name="Imagen 6"/>
          <p:cNvPicPr>
            <a:picLocks noChangeAspect="1"/>
          </p:cNvPicPr>
          <p:nvPr/>
        </p:nvPicPr>
        <p:blipFill rotWithShape="1">
          <a:blip r:embed="rId3"/>
          <a:srcRect l="25335" t="41875" r="43441" b="14197"/>
          <a:stretch/>
        </p:blipFill>
        <p:spPr>
          <a:xfrm>
            <a:off x="4387773" y="1920239"/>
            <a:ext cx="3302885" cy="2612571"/>
          </a:xfrm>
          <a:prstGeom prst="rect">
            <a:avLst/>
          </a:prstGeom>
        </p:spPr>
      </p:pic>
      <p:pic>
        <p:nvPicPr>
          <p:cNvPr id="8" name="Imagen 7"/>
          <p:cNvPicPr>
            <a:picLocks noChangeAspect="1"/>
          </p:cNvPicPr>
          <p:nvPr/>
        </p:nvPicPr>
        <p:blipFill rotWithShape="1">
          <a:blip r:embed="rId4"/>
          <a:srcRect l="25135" t="32589" r="42236" b="22947"/>
          <a:stretch/>
        </p:blipFill>
        <p:spPr>
          <a:xfrm>
            <a:off x="8195394" y="1920239"/>
            <a:ext cx="3401729" cy="2606248"/>
          </a:xfrm>
          <a:prstGeom prst="rect">
            <a:avLst/>
          </a:prstGeom>
        </p:spPr>
      </p:pic>
      <p:sp>
        <p:nvSpPr>
          <p:cNvPr id="9" name="Título 1"/>
          <p:cNvSpPr txBox="1">
            <a:spLocks/>
          </p:cNvSpPr>
          <p:nvPr/>
        </p:nvSpPr>
        <p:spPr>
          <a:xfrm>
            <a:off x="1467215" y="5166566"/>
            <a:ext cx="9144000" cy="797877"/>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s-ES" sz="1800" dirty="0" smtClean="0"/>
              <a:t>Podemos visualizar efectivamente una correlación lineal positiva entre tasa de mortalidad y porcentaje de ocupación (PORCENTAJE_OCUP), servicios (SERVICIO_ID), y defunciones (DEF).</a:t>
            </a:r>
            <a:endParaRPr lang="es-ES" sz="1800" dirty="0"/>
          </a:p>
        </p:txBody>
      </p:sp>
    </p:spTree>
    <p:extLst>
      <p:ext uri="{BB962C8B-B14F-4D97-AF65-F5344CB8AC3E}">
        <p14:creationId xmlns:p14="http://schemas.microsoft.com/office/powerpoint/2010/main" val="1635373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1851" y="91440"/>
            <a:ext cx="10376080" cy="1632857"/>
          </a:xfrm>
        </p:spPr>
        <p:txBody>
          <a:bodyPr>
            <a:normAutofit fontScale="90000"/>
          </a:bodyPr>
          <a:lstStyle/>
          <a:p>
            <a:pPr algn="ctr"/>
            <a:r>
              <a:rPr lang="es-ES" b="1" dirty="0" smtClean="0">
                <a:effectLst>
                  <a:outerShdw blurRad="38100" dist="38100" dir="2700000" algn="tl">
                    <a:srgbClr val="000000">
                      <a:alpha val="43137"/>
                    </a:srgbClr>
                  </a:outerShdw>
                </a:effectLst>
              </a:rPr>
              <a:t/>
            </a:r>
            <a:br>
              <a:rPr lang="es-ES" b="1" dirty="0" smtClean="0">
                <a:effectLst>
                  <a:outerShdw blurRad="38100" dist="38100" dir="2700000" algn="tl">
                    <a:srgbClr val="000000">
                      <a:alpha val="43137"/>
                    </a:srgbClr>
                  </a:outerShdw>
                </a:effectLst>
              </a:rPr>
            </a:br>
            <a:r>
              <a:rPr lang="es-ES" b="1" dirty="0">
                <a:effectLst>
                  <a:outerShdw blurRad="38100" dist="38100" dir="2700000" algn="tl">
                    <a:srgbClr val="000000">
                      <a:alpha val="43137"/>
                    </a:srgbClr>
                  </a:outerShdw>
                </a:effectLst>
              </a:rPr>
              <a:t/>
            </a:r>
            <a:br>
              <a:rPr lang="es-ES" b="1" dirty="0">
                <a:effectLst>
                  <a:outerShdw blurRad="38100" dist="38100" dir="2700000" algn="tl">
                    <a:srgbClr val="000000">
                      <a:alpha val="43137"/>
                    </a:srgbClr>
                  </a:outerShdw>
                </a:effectLst>
              </a:rPr>
            </a:br>
            <a:r>
              <a:rPr lang="es-ES" b="1" dirty="0" smtClean="0">
                <a:effectLst>
                  <a:outerShdw blurRad="38100" dist="38100" dir="2700000" algn="tl">
                    <a:srgbClr val="000000">
                      <a:alpha val="43137"/>
                    </a:srgbClr>
                  </a:outerShdw>
                </a:effectLst>
              </a:rPr>
              <a:t/>
            </a:r>
            <a:br>
              <a:rPr lang="es-ES" b="1" dirty="0" smtClean="0">
                <a:effectLst>
                  <a:outerShdw blurRad="38100" dist="38100" dir="2700000" algn="tl">
                    <a:srgbClr val="000000">
                      <a:alpha val="43137"/>
                    </a:srgbClr>
                  </a:outerShdw>
                </a:effectLst>
              </a:rPr>
            </a:br>
            <a:r>
              <a:rPr lang="es-ES" b="1" dirty="0">
                <a:effectLst>
                  <a:outerShdw blurRad="38100" dist="38100" dir="2700000" algn="tl">
                    <a:srgbClr val="000000">
                      <a:alpha val="43137"/>
                    </a:srgbClr>
                  </a:outerShdw>
                </a:effectLst>
              </a:rPr>
              <a:t/>
            </a:r>
            <a:br>
              <a:rPr lang="es-ES" b="1" dirty="0">
                <a:effectLst>
                  <a:outerShdw blurRad="38100" dist="38100" dir="2700000" algn="tl">
                    <a:srgbClr val="000000">
                      <a:alpha val="43137"/>
                    </a:srgbClr>
                  </a:outerShdw>
                </a:effectLst>
              </a:rPr>
            </a:br>
            <a:r>
              <a:rPr lang="es-ES" b="1" dirty="0" smtClean="0">
                <a:effectLst>
                  <a:outerShdw blurRad="38100" dist="38100" dir="2700000" algn="tl">
                    <a:srgbClr val="000000">
                      <a:alpha val="43137"/>
                    </a:srgbClr>
                  </a:outerShdw>
                </a:effectLst>
              </a:rPr>
              <a:t>Interpretación </a:t>
            </a:r>
            <a:r>
              <a:rPr lang="es-ES" b="1" dirty="0">
                <a:effectLst>
                  <a:outerShdw blurRad="38100" dist="38100" dir="2700000" algn="tl">
                    <a:srgbClr val="000000">
                      <a:alpha val="43137"/>
                    </a:srgbClr>
                  </a:outerShdw>
                </a:effectLst>
              </a:rPr>
              <a:t>y Conclusiones</a:t>
            </a:r>
            <a:r>
              <a:rPr lang="es-ES" b="1" dirty="0"/>
              <a:t/>
            </a:r>
            <a:br>
              <a:rPr lang="es-ES" b="1" dirty="0"/>
            </a:br>
            <a:endParaRPr lang="es-ES" dirty="0"/>
          </a:p>
        </p:txBody>
      </p:sp>
      <p:sp>
        <p:nvSpPr>
          <p:cNvPr id="3" name="Marcador de texto 2"/>
          <p:cNvSpPr>
            <a:spLocks noGrp="1"/>
          </p:cNvSpPr>
          <p:nvPr>
            <p:ph type="body" idx="1"/>
          </p:nvPr>
        </p:nvSpPr>
        <p:spPr>
          <a:xfrm>
            <a:off x="831850" y="1149531"/>
            <a:ext cx="10515600" cy="5577840"/>
          </a:xfrm>
        </p:spPr>
        <p:txBody>
          <a:bodyPr>
            <a:normAutofit/>
          </a:bodyPr>
          <a:lstStyle/>
          <a:p>
            <a:endParaRPr lang="es-419" sz="1700" dirty="0" smtClean="0"/>
          </a:p>
          <a:p>
            <a:r>
              <a:rPr lang="es-419" sz="1700" dirty="0" smtClean="0"/>
              <a:t>La </a:t>
            </a:r>
            <a:r>
              <a:rPr lang="es-419" sz="1700" dirty="0"/>
              <a:t>tasa de mortalidad comienza a incrementarse en el </a:t>
            </a:r>
            <a:r>
              <a:rPr lang="es-419" sz="1700" dirty="0" smtClean="0"/>
              <a:t>2014 </a:t>
            </a:r>
            <a:r>
              <a:rPr lang="es-419" sz="1700" dirty="0"/>
              <a:t>con un pico en el 2015 y un leve descenso al final de los 2 años.</a:t>
            </a:r>
          </a:p>
          <a:p>
            <a:r>
              <a:rPr lang="es-419" sz="1700" dirty="0"/>
              <a:t>Se registra mayor tasa de mortalidad en CIRUGIA,MEDICINA y URGENCIA.</a:t>
            </a:r>
          </a:p>
          <a:p>
            <a:r>
              <a:rPr lang="es-419" sz="1700" dirty="0"/>
              <a:t>Los Hospitales con mayor tasa de mortalidad son: HOSPITAL SANTOJANNI, HOSPITAL DE INFECCIOSAS F. MUÑIZ,HOSPITAL GENERAL DE AGUDOS DR. E. TORNU.</a:t>
            </a:r>
          </a:p>
          <a:p>
            <a:r>
              <a:rPr lang="es-419" sz="1700" dirty="0"/>
              <a:t>Concluímos que Los Hospitales de Especialidades y de Agudos poseen la mayor tasa de </a:t>
            </a:r>
            <a:r>
              <a:rPr lang="es-419" sz="1700" dirty="0" smtClean="0"/>
              <a:t>mortalidad.</a:t>
            </a:r>
            <a:endParaRPr lang="es-419" sz="1700" dirty="0"/>
          </a:p>
          <a:p>
            <a:r>
              <a:rPr lang="es-419" sz="1700" dirty="0"/>
              <a:t>En cuanto a la disponibilidad de camas, son muy superiores a la cantidad de internaciones, y sobre todo en los Hospitales de Salud mental.</a:t>
            </a:r>
          </a:p>
          <a:p>
            <a:r>
              <a:rPr lang="es-419" sz="1700" dirty="0"/>
              <a:t>Lo que más incide en la Tasa de Mortalidad es DEF y SERVICIO_ID y PORCENTAJE_OCUP</a:t>
            </a:r>
          </a:p>
          <a:p>
            <a:r>
              <a:rPr lang="es-419" sz="1700" dirty="0"/>
              <a:t>Luego de este análisis nos encontramos en condiciones de informarle al Ministerio de Salud, que no será necesario realizar una ampliación de camas en los nosocomios públicos. Que si bien la tasa de mortalidad se mantiene sin variaciones importantes que impliquen aumentos o descensos descomunales, será importantes poner foco en los servicios de Medicina, Cirugía y Urgencia. Quizás se podrían reforzar estos servicios en general, y </a:t>
            </a:r>
            <a:r>
              <a:rPr lang="es-419" sz="1700" dirty="0" smtClean="0"/>
              <a:t>también </a:t>
            </a:r>
            <a:r>
              <a:rPr lang="es-419" sz="1700" dirty="0"/>
              <a:t>realizar un análisis detallado en los Hospitales con </a:t>
            </a:r>
            <a:r>
              <a:rPr lang="es-419" sz="1700" dirty="0" smtClean="0"/>
              <a:t>mayor </a:t>
            </a:r>
            <a:r>
              <a:rPr lang="es-419" sz="1700" dirty="0"/>
              <a:t>tasa de mortalidad.</a:t>
            </a:r>
          </a:p>
          <a:p>
            <a:endParaRPr lang="es-ES" dirty="0"/>
          </a:p>
        </p:txBody>
      </p:sp>
    </p:spTree>
    <p:extLst>
      <p:ext uri="{BB962C8B-B14F-4D97-AF65-F5344CB8AC3E}">
        <p14:creationId xmlns:p14="http://schemas.microsoft.com/office/powerpoint/2010/main" val="88033678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1850" y="599395"/>
            <a:ext cx="10515600" cy="746079"/>
          </a:xfrm>
        </p:spPr>
        <p:txBody>
          <a:bodyPr>
            <a:normAutofit fontScale="90000"/>
          </a:bodyPr>
          <a:lstStyle/>
          <a:p>
            <a:pPr algn="ctr"/>
            <a:r>
              <a:rPr lang="es-ES" b="1" dirty="0">
                <a:effectLst>
                  <a:outerShdw blurRad="38100" dist="38100" dir="2700000" algn="tl">
                    <a:srgbClr val="000000">
                      <a:alpha val="43137"/>
                    </a:srgbClr>
                  </a:outerShdw>
                </a:effectLst>
              </a:rPr>
              <a:t>Insights y </a:t>
            </a:r>
            <a:r>
              <a:rPr lang="es-ES" b="1" dirty="0" smtClean="0">
                <a:effectLst>
                  <a:outerShdw blurRad="38100" dist="38100" dir="2700000" algn="tl">
                    <a:srgbClr val="000000">
                      <a:alpha val="43137"/>
                    </a:srgbClr>
                  </a:outerShdw>
                </a:effectLst>
              </a:rPr>
              <a:t>Recomendaciones</a:t>
            </a:r>
            <a:endParaRPr lang="es-ES" dirty="0"/>
          </a:p>
        </p:txBody>
      </p:sp>
      <p:sp>
        <p:nvSpPr>
          <p:cNvPr id="3" name="Marcador de texto 2"/>
          <p:cNvSpPr>
            <a:spLocks noGrp="1"/>
          </p:cNvSpPr>
          <p:nvPr>
            <p:ph type="body" idx="1"/>
          </p:nvPr>
        </p:nvSpPr>
        <p:spPr>
          <a:xfrm>
            <a:off x="831850" y="1854926"/>
            <a:ext cx="10515600" cy="4234725"/>
          </a:xfrm>
        </p:spPr>
        <p:txBody>
          <a:bodyPr>
            <a:normAutofit/>
          </a:bodyPr>
          <a:lstStyle/>
          <a:p>
            <a:pPr marL="342900" indent="-342900">
              <a:buFont typeface="Arial" panose="020B0604020202020204" pitchFamily="34" charset="0"/>
              <a:buChar char="•"/>
            </a:pPr>
            <a:r>
              <a:rPr lang="es-419" dirty="0"/>
              <a:t>Si bien la tasa de mortalidad se mantiene sin variaciones importantes que impliquen aumentos o descensos descomunales, será prudente poner foco en los servicios de Medicina, Cirugía y Urgencia. Recomendamos trabajar con el personal, aplicando metodologías ágiles para encontrar cuáles son los puntos a mejorar.</a:t>
            </a:r>
          </a:p>
          <a:p>
            <a:pPr marL="342900" indent="-342900">
              <a:buFont typeface="Arial" panose="020B0604020202020204" pitchFamily="34" charset="0"/>
              <a:buChar char="•"/>
            </a:pPr>
            <a:r>
              <a:rPr lang="es-419" dirty="0"/>
              <a:t>También realizar un análisis detallado en los Hospitales con mayor tasa de mortalidad</a:t>
            </a:r>
            <a:r>
              <a:rPr lang="es-419" dirty="0" smtClean="0"/>
              <a:t>.</a:t>
            </a:r>
            <a:r>
              <a:rPr lang="es-419" dirty="0"/>
              <a:t> </a:t>
            </a:r>
            <a:r>
              <a:rPr lang="es-419" dirty="0" smtClean="0"/>
              <a:t> Vimos </a:t>
            </a:r>
            <a:r>
              <a:rPr lang="es-419" dirty="0"/>
              <a:t>que los Hospitales de Agudos y Especialidades poseen la mayor tasa de mortalidad.</a:t>
            </a:r>
          </a:p>
          <a:p>
            <a:pPr marL="342900" indent="-342900">
              <a:buFont typeface="Arial" panose="020B0604020202020204" pitchFamily="34" charset="0"/>
              <a:buChar char="•"/>
            </a:pPr>
            <a:r>
              <a:rPr lang="es-419" dirty="0"/>
              <a:t>En los Hospitales con especialidades psiquiátricas hay una gran cantidad de camas sobrantes, por lo que se recomendaría utilizar ese espacio para control, consultorios externos, u otro tipo de uso que permita optimizar el espacio.</a:t>
            </a:r>
          </a:p>
          <a:p>
            <a:endParaRPr lang="es-ES" dirty="0"/>
          </a:p>
        </p:txBody>
      </p:sp>
    </p:spTree>
    <p:extLst>
      <p:ext uri="{BB962C8B-B14F-4D97-AF65-F5344CB8AC3E}">
        <p14:creationId xmlns:p14="http://schemas.microsoft.com/office/powerpoint/2010/main" val="31061087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92720" y="364266"/>
            <a:ext cx="10454730" cy="1007334"/>
          </a:xfrm>
        </p:spPr>
        <p:txBody>
          <a:bodyPr>
            <a:noAutofit/>
          </a:bodyPr>
          <a:lstStyle/>
          <a:p>
            <a:pPr algn="ctr"/>
            <a:r>
              <a:rPr lang="es-419" sz="3200" b="1" dirty="0" smtClean="0">
                <a:effectLst>
                  <a:outerShdw blurRad="38100" dist="38100" dir="2700000" algn="tl">
                    <a:srgbClr val="000000">
                      <a:alpha val="43137"/>
                    </a:srgbClr>
                  </a:outerShdw>
                </a:effectLst>
              </a:rPr>
              <a:t/>
            </a:r>
            <a:br>
              <a:rPr lang="es-419" sz="3200" b="1" dirty="0" smtClean="0">
                <a:effectLst>
                  <a:outerShdw blurRad="38100" dist="38100" dir="2700000" algn="tl">
                    <a:srgbClr val="000000">
                      <a:alpha val="43137"/>
                    </a:srgbClr>
                  </a:outerShdw>
                </a:effectLst>
              </a:rPr>
            </a:br>
            <a:r>
              <a:rPr lang="es-419" sz="3200" b="1" dirty="0">
                <a:effectLst>
                  <a:outerShdw blurRad="38100" dist="38100" dir="2700000" algn="tl">
                    <a:srgbClr val="000000">
                      <a:alpha val="43137"/>
                    </a:srgbClr>
                  </a:outerShdw>
                </a:effectLst>
              </a:rPr>
              <a:t/>
            </a:r>
            <a:br>
              <a:rPr lang="es-419" sz="3200" b="1" dirty="0">
                <a:effectLst>
                  <a:outerShdw blurRad="38100" dist="38100" dir="2700000" algn="tl">
                    <a:srgbClr val="000000">
                      <a:alpha val="43137"/>
                    </a:srgbClr>
                  </a:outerShdw>
                </a:effectLst>
              </a:rPr>
            </a:br>
            <a:r>
              <a:rPr lang="es-419" sz="3200" b="1" dirty="0" smtClean="0">
                <a:effectLst>
                  <a:outerShdw blurRad="38100" dist="38100" dir="2700000" algn="tl">
                    <a:srgbClr val="000000">
                      <a:alpha val="43137"/>
                    </a:srgbClr>
                  </a:outerShdw>
                </a:effectLst>
              </a:rPr>
              <a:t/>
            </a:r>
            <a:br>
              <a:rPr lang="es-419" sz="3200" b="1" dirty="0" smtClean="0">
                <a:effectLst>
                  <a:outerShdw blurRad="38100" dist="38100" dir="2700000" algn="tl">
                    <a:srgbClr val="000000">
                      <a:alpha val="43137"/>
                    </a:srgbClr>
                  </a:outerShdw>
                </a:effectLst>
              </a:rPr>
            </a:br>
            <a:r>
              <a:rPr lang="es-419" sz="3200" b="1" dirty="0">
                <a:effectLst>
                  <a:outerShdw blurRad="38100" dist="38100" dir="2700000" algn="tl">
                    <a:srgbClr val="000000">
                      <a:alpha val="43137"/>
                    </a:srgbClr>
                  </a:outerShdw>
                </a:effectLst>
              </a:rPr>
              <a:t/>
            </a:r>
            <a:br>
              <a:rPr lang="es-419" sz="3200" b="1" dirty="0">
                <a:effectLst>
                  <a:outerShdw blurRad="38100" dist="38100" dir="2700000" algn="tl">
                    <a:srgbClr val="000000">
                      <a:alpha val="43137"/>
                    </a:srgbClr>
                  </a:outerShdw>
                </a:effectLst>
              </a:rPr>
            </a:br>
            <a:r>
              <a:rPr lang="es-419" sz="3200" b="1" dirty="0" smtClean="0">
                <a:effectLst>
                  <a:outerShdw blurRad="38100" dist="38100" dir="2700000" algn="tl">
                    <a:srgbClr val="000000">
                      <a:alpha val="43137"/>
                    </a:srgbClr>
                  </a:outerShdw>
                </a:effectLst>
              </a:rPr>
              <a:t>A </a:t>
            </a:r>
            <a:r>
              <a:rPr lang="es-419" sz="3200" b="1" dirty="0">
                <a:effectLst>
                  <a:outerShdw blurRad="38100" dist="38100" dir="2700000" algn="tl">
                    <a:srgbClr val="000000">
                      <a:alpha val="43137"/>
                    </a:srgbClr>
                  </a:outerShdw>
                </a:effectLst>
              </a:rPr>
              <a:t>considerar (comparativo con un Hospital de Colombia)</a:t>
            </a:r>
            <a:br>
              <a:rPr lang="es-419" sz="3200" b="1" dirty="0">
                <a:effectLst>
                  <a:outerShdw blurRad="38100" dist="38100" dir="2700000" algn="tl">
                    <a:srgbClr val="000000">
                      <a:alpha val="43137"/>
                    </a:srgbClr>
                  </a:outerShdw>
                </a:effectLst>
              </a:rPr>
            </a:br>
            <a:endParaRPr lang="es-ES" sz="3200" b="1" dirty="0">
              <a:effectLst>
                <a:outerShdw blurRad="38100" dist="38100" dir="2700000" algn="tl">
                  <a:srgbClr val="000000">
                    <a:alpha val="43137"/>
                  </a:srgbClr>
                </a:outerShdw>
              </a:effectLst>
            </a:endParaRPr>
          </a:p>
        </p:txBody>
      </p:sp>
      <p:sp>
        <p:nvSpPr>
          <p:cNvPr id="3" name="Marcador de texto 2"/>
          <p:cNvSpPr>
            <a:spLocks noGrp="1"/>
          </p:cNvSpPr>
          <p:nvPr>
            <p:ph type="body" idx="1"/>
          </p:nvPr>
        </p:nvSpPr>
        <p:spPr>
          <a:xfrm>
            <a:off x="831850" y="1371600"/>
            <a:ext cx="10515600" cy="5368833"/>
          </a:xfrm>
        </p:spPr>
        <p:txBody>
          <a:bodyPr/>
          <a:lstStyle/>
          <a:p>
            <a:r>
              <a:rPr lang="es-419" dirty="0"/>
              <a:t>-Tomando en cuenta los datos que se toman en el Hospital Departamental San Antonio Pitalito Huila, Colombia, </a:t>
            </a:r>
            <a:r>
              <a:rPr lang="es-419" dirty="0" smtClean="0"/>
              <a:t>sería de interés poseer datos </a:t>
            </a:r>
            <a:r>
              <a:rPr lang="es-419" dirty="0"/>
              <a:t>de tipo de </a:t>
            </a:r>
            <a:r>
              <a:rPr lang="es-419" dirty="0" smtClean="0"/>
              <a:t>defunción, al igual que en este ejemplo.</a:t>
            </a:r>
          </a:p>
          <a:p>
            <a:r>
              <a:rPr lang="es-419" dirty="0" smtClean="0"/>
              <a:t> </a:t>
            </a:r>
            <a:r>
              <a:rPr lang="es-419" dirty="0"/>
              <a:t>Se muestran a continuación las Defunciones, Tipo Mortalidad y Género de la ESE Hospital Departamental San Antonio Pitalito Huila- Colombia. Año 2020</a:t>
            </a:r>
            <a:endParaRPr lang="es-ES" dirty="0"/>
          </a:p>
        </p:txBody>
      </p:sp>
      <p:pic>
        <p:nvPicPr>
          <p:cNvPr id="4" name="Imagen 3"/>
          <p:cNvPicPr>
            <a:picLocks noChangeAspect="1"/>
          </p:cNvPicPr>
          <p:nvPr/>
        </p:nvPicPr>
        <p:blipFill rotWithShape="1">
          <a:blip r:embed="rId2"/>
          <a:srcRect l="35275" t="31518" r="40698" b="44375"/>
          <a:stretch/>
        </p:blipFill>
        <p:spPr>
          <a:xfrm>
            <a:off x="2321016" y="3788227"/>
            <a:ext cx="3126197" cy="1763487"/>
          </a:xfrm>
          <a:prstGeom prst="rect">
            <a:avLst/>
          </a:prstGeom>
        </p:spPr>
      </p:pic>
      <p:pic>
        <p:nvPicPr>
          <p:cNvPr id="5" name="Imagen 4"/>
          <p:cNvPicPr>
            <a:picLocks noChangeAspect="1"/>
          </p:cNvPicPr>
          <p:nvPr/>
        </p:nvPicPr>
        <p:blipFill rotWithShape="1">
          <a:blip r:embed="rId2"/>
          <a:srcRect l="35375" t="55268" r="40529" b="20803"/>
          <a:stretch/>
        </p:blipFill>
        <p:spPr>
          <a:xfrm>
            <a:off x="6150520" y="3788227"/>
            <a:ext cx="3135086" cy="1750423"/>
          </a:xfrm>
          <a:prstGeom prst="rect">
            <a:avLst/>
          </a:prstGeom>
        </p:spPr>
      </p:pic>
    </p:spTree>
    <p:extLst>
      <p:ext uri="{BB962C8B-B14F-4D97-AF65-F5344CB8AC3E}">
        <p14:creationId xmlns:p14="http://schemas.microsoft.com/office/powerpoint/2010/main" val="3033928758"/>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191</TotalTime>
  <Words>1711</Words>
  <Application>Microsoft Office PowerPoint</Application>
  <PresentationFormat>Panorámica</PresentationFormat>
  <Paragraphs>108</Paragraphs>
  <Slides>18</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18</vt:i4>
      </vt:variant>
    </vt:vector>
  </HeadingPairs>
  <TitlesOfParts>
    <vt:vector size="23" baseType="lpstr">
      <vt:lpstr>Arial</vt:lpstr>
      <vt:lpstr>Calibri</vt:lpstr>
      <vt:lpstr>Calibri Light</vt:lpstr>
      <vt:lpstr>Helvetica Neue</vt:lpstr>
      <vt:lpstr>Tema de Office</vt:lpstr>
      <vt:lpstr>Información sobre Internaciones en la Ciudad de Buenos Aires. Información publicada en https://data.buenosaires.gob.ar/dataset/movimiento-hospitalario Esta información nos permite saber los servicios, especialidades y hospitales de la ciudad, y los ingresos, altas y defunciones, desde el año 2011 al año 2017.</vt:lpstr>
      <vt:lpstr>Selección del Dataset</vt:lpstr>
      <vt:lpstr>Comenzamos a conocer los datos</vt:lpstr>
      <vt:lpstr>Modificaciones</vt:lpstr>
      <vt:lpstr>Presentación de PowerPoint</vt:lpstr>
      <vt:lpstr>Presentación de PowerPoint</vt:lpstr>
      <vt:lpstr>Descripción de Columnas</vt:lpstr>
      <vt:lpstr>Comenzamos a responder las preguntas </vt:lpstr>
      <vt:lpstr>Presentación de PowerPoint</vt:lpstr>
      <vt:lpstr>Presentación de PowerPoint</vt:lpstr>
      <vt:lpstr>Presentación de PowerPoint</vt:lpstr>
      <vt:lpstr>Presentación de PowerPoint</vt:lpstr>
      <vt:lpstr>Presentación de PowerPoint</vt:lpstr>
      <vt:lpstr>Presentación de PowerPoint</vt:lpstr>
      <vt:lpstr>Graficamos las 3 variables</vt:lpstr>
      <vt:lpstr>    Interpretación y Conclusiones </vt:lpstr>
      <vt:lpstr>Insights y Recomendaciones</vt:lpstr>
      <vt:lpstr>    A considerar (comparativo con un Hospital de Colombia) </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Información sobre Internaciones en la Ciudad de Buenos Aires. Información publicada en https://data.buenosaires.gob.ar/dataset/movimiento-hospitalario Esta información nos permite saber los servicios, especialidades y hospitales de la ciudad, y los ingresos, altas y defunciones, desde el año 2011 al año 2017.  Nancy Manzano. Comisión:32830 Data Science</dc:title>
  <dc:creator>Cuenta Microsoft</dc:creator>
  <cp:lastModifiedBy>Cuenta Microsoft</cp:lastModifiedBy>
  <cp:revision>24</cp:revision>
  <dcterms:created xsi:type="dcterms:W3CDTF">2023-04-17T12:56:18Z</dcterms:created>
  <dcterms:modified xsi:type="dcterms:W3CDTF">2023-05-10T17:03:05Z</dcterms:modified>
</cp:coreProperties>
</file>